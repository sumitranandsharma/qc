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QUANTUM COMPUTING CAPSTONE PROJECT</a:t>
            </a:r>
          </a:p>
          <a:p>
            <a:pPr>
              <a:spcBef>
                <a:spcPts val="1200"/>
              </a:spcBef>
              <a:defRPr sz="2600" b="1">
                <a:solidFill>
                  <a:srgbClr val="0F172A"/>
                </a:solidFill>
              </a:defRPr>
            </a:pPr>
            <a:r>
              <a:t>Quantum AI-Based Medical Imaging System for Disease Diagnosis from Medical Scans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</a:defRPr>
            </a:pPr>
            <a:r>
              <a:t>An Educational &amp; Research Prototype for Hybrid Classical-Quantum Machine Learning</a:t>
            </a:r>
          </a:p>
          <a:p>
            <a:pPr>
              <a:spcBef>
                <a:spcPts val="2200"/>
              </a:spcBef>
              <a:defRPr sz="1150">
                <a:solidFill>
                  <a:srgbClr val="64748B"/>
                </a:solidFill>
              </a:defRPr>
            </a:pPr>
            <a:r>
              <a:t>Candidate Details:</a:t>
            </a:r>
            <a:br/>
            <a:r>
              <a:t>• Student Name: [Student Name]     |     Roll Number: [Roll Number]</a:t>
            </a:r>
            <a:br/>
            <a:r>
              <a:t>• Department: Department of Computer Science &amp; Engineering</a:t>
            </a:r>
            <a:br/>
            <a:r>
              <a:t>• Evaluation: B.Tech Capstone Project Examination (2025–2026)</a:t>
            </a:r>
            <a:br/>
            <a:r>
              <a:t>• Frameworks: PyTorch, PennyLane Quantum Simulator, ResNet-18,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Clinical Motivation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Radiological Diagnostic Bottlenecks and Hybrid Quantum-Classical Computing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Clinical Challenges in Radiology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High Diagnostic Workloads: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Hospitals interpret millions of chest radiographs annually, leading to radiologist fatigue and potential diagnostic delays.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Subtle Infiltrate Opacities: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Early pneumonia manifests as ambiguous interstitial markings that require subtle perceptual discrimination.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Automated Triage Need: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Automated computer-aided diagnosis assists clinicians in rapidly flagging high-risk pulmonary scans.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Physician-Centered Scope: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System is designed strictly as a clinical decision-support tool, not an autonomous replacement for licensed doctors.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Role of Quantum Machine Learning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Hilbert-Space Feature Mapping: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Quantum states reside in 2^N dimensional complex Hilbert spaces, enabling non-linear correlation representations.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NISQ Hardware Constraints: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Direct ingestion of raw 50,000+ pixel images exceeds current qubit budgets; hybrid classical-quantum reduction is mandatory.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Variational Unitary Circuits: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Parameterized Quantum Circuits (PQCs) trained via classical optimizers offer noise resilience and low gate depth.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• Empirical Scientific Evaluation: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 Rigorous benchmarking against classical SVMs on identical features to honestly assess quantum classification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Technical Scope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Theoretical, Engineering, and Experimental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Medical Image Classification Pipeline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Develop an automated pipeline classifying pediatric chest radiographs into Normal vs. Pneumonia using benchmark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CNN Deep Feature Extraction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Leverage transfer learning with pre-trained ResNet-18 to extract semantically rich 512-dimensional spatial representations.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PCA Dimensionality Reduction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Mathematically compress 512 CNN features into 4 principal components matching the quantum qubit budget while preserving variance.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546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Variational Quantum Classifier (VQC)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Implement a 4-qubit parameterized quantum circuit in PennyLane using Ry angle embedding, CNOT entanglement, and Pauli-Z readout.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Unbiased Classical Benchmarking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Evaluate Support Vector Machines (RBF/Linear), Logistic Regression, and MLPs on identical PCA features for fair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8920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Working Web-Based Prototype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Deliver a functioning FastAPI + modern responsive light dashboard with live image upload, Grad-CAM overlays, and circuit inspector.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Hybrid Algorithm: End-to-End Workflow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Algorithm: Hybrid ResNet-PCA Variational Quantum Classifier (ResNet-PCA-VQC)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Image Acquisition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Kermany benchmark chest X-ray scans (224×224 resolution).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Preprocessing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CLAHE adaptive contrast equalization &amp; ImageNet normalization.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CNN Extraction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Pre-trained ResNet-18 penultimate pooling layer produces 512-dim vector.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PCA Reduction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Orthogonal SVD projection from 512 dimensions down to 4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5. State Preparation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Angle embedding via single-qubit rotations: |ψ(x)⟩ = ⊗ Ry(x_i)|0⟩.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69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6. Variational Circuit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L=2 layers of Ry(θ), Rz(φ) rotations and circular CNOT entanglement.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069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7. Measurement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Pauli-Z expectation ⟨Z_0⟩ calibrated via classical sigmoid to P(Pneumonia).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0690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8. Classical Optimization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Adam optimizer minimizing BCE loss via analytical Parameter-Shift gradients.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Algorithm: Pseudocode &amp; Circuit Mechanics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Algorithmic Formulation of Hybrid Quantum-Classical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Pipeline Pseudocode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Consolas"/>
              </a:defRPr>
            </a:pPr>
            <a:r>
              <a:t>Algorithm: Hybrid-ResNet-PCA-VQC</a:t>
            </a:r>
            <a:br/>
            <a:r>
              <a:t>Input: Chest Radiograph X, Ground truth y in {0, 1}</a:t>
            </a:r>
            <a:br/>
            <a:r>
              <a:t>Output: Predicted class y_pred, Confidence p</a:t>
            </a:r>
            <a:br/>
            <a:br/>
            <a:r>
              <a:t>1: X_norm &lt;- CLAHE_Normalize(X, target_size=(224, 224))</a:t>
            </a:r>
            <a:br/>
            <a:r>
              <a:t>2: v_cnn &lt;- ResNet18_ExtractFeatures(X_norm)  // v_cnn in R^512</a:t>
            </a:r>
            <a:br/>
            <a:r>
              <a:t>3: x_pca &lt;- PCA_Transform(v_cnn)              // x_pca in R^4</a:t>
            </a:r>
            <a:br/>
            <a:r>
              <a:t>4: x_angles &lt;- MinMaxScale(x_pca, [0, pi])</a:t>
            </a:r>
            <a:br/>
            <a:r>
              <a:t>5: |psi_0&gt; &lt;- |0000&gt;</a:t>
            </a:r>
            <a:br/>
            <a:r>
              <a:t>6: |psi_enc&gt; &lt;- (x)_{i=0}^3 R_y(x_angles[i]) |0&gt;</a:t>
            </a:r>
            <a:br/>
            <a:r>
              <a:t>7: For layer l = 1 to L do:</a:t>
            </a:r>
            <a:br/>
            <a:r>
              <a:t>8:    |psi&gt; &lt;- (x)_{i=0}^3 R_z(phi_{l,i}) R_y(theta_{l,i}) |psi&gt;</a:t>
            </a:r>
            <a:br/>
            <a:r>
              <a:t>9:    |psi&gt; &lt;- Circular_CNOT_Ladder(|psi&gt;)</a:t>
            </a:r>
            <a:br/>
            <a:r>
              <a:t>10: End For</a:t>
            </a:r>
            <a:br/>
            <a:r>
              <a:t>11: &lt;Z_0&gt; &lt;- &lt;psi| Z_0 |psi&gt;</a:t>
            </a:r>
            <a:br/>
            <a:r>
              <a:t>12: p &lt;- sigmoid(w * &lt;Z_0&gt; + b)               // Sigmoid calibration</a:t>
            </a:r>
            <a:br/>
            <a:r>
              <a:t>13: y_pred &lt;- (p &gt;= 0.5) ? Pneumonia : Normal</a:t>
            </a:r>
            <a:br/>
            <a:r>
              <a:t>14: Return y_pred,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Quantum Circuit Topology (PennyLane)</a:t>
            </a:r>
          </a:p>
          <a:p>
            <a:pPr>
              <a:spcBef>
                <a:spcPts val="600"/>
              </a:spcBef>
              <a:defRPr sz="950">
                <a:solidFill>
                  <a:srgbClr val="4F46E5"/>
                </a:solidFill>
                <a:latin typeface="Consolas"/>
              </a:defRPr>
            </a:pPr>
            <a:r>
              <a:t>|q0&gt; --[Ry(x0)]--[Ry(th0)]--[Rz(ph0)]--*-------(+)---[&lt;Z0&gt;]</a:t>
            </a:r>
            <a:br/>
            <a:r>
              <a:t>                                       |        |    </a:t>
            </a:r>
            <a:br/>
            <a:r>
              <a:t>|q1&gt; --[Ry(x1)]--[Ry(th1)]--[Rz(ph1)]--(+)--*---+----</a:t>
            </a:r>
            <a:br/>
            <a:r>
              <a:t>                                            |   |    </a:t>
            </a:r>
            <a:br/>
            <a:r>
              <a:t>|q2&gt; --[Ry(x2)]--[Ry(th2)]--[Rz(ph2)]-------(+)--*----</a:t>
            </a:r>
            <a:br/>
            <a:r>
              <a:t>                                                |    </a:t>
            </a:r>
            <a:br/>
            <a:r>
              <a:t>|q3&gt; --[Ry(x3)]--[Ry(th3)]--[Rz(ph3)]----------(+)---</a:t>
            </a:r>
            <a:br/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Mathematical Formulation: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State Encoding: Ry(x_i) = exp(-i x_i Y / 2)</a:t>
            </a:r>
            <a:br/>
            <a:r>
              <a:t>• Entanglement: Circular CNOT(q_i, q_{(i+1)%4}) maps feature correlations</a:t>
            </a:r>
            <a:br/>
            <a:r>
              <a:t>• Parameter-Shift Rule: Exact gradient evaluation on quantum simulator:</a:t>
            </a:r>
            <a:br/>
            <a:r>
              <a:t>  d&lt;Z&gt;/d theta_j = 0.5 * [&lt;Z(theta_j + pi/2)&gt; - &lt;Z(theta_j - pi/2)&gt;]</a:t>
            </a:r>
            <a:br/>
            <a:r>
              <a:t>• Observable Readout: Pauli-Z expectation on wire 0: &lt;Z_0&gt; in [-1, 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Algorithm Complexity Analysis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Rigorous Differentiation of Classical vs Quantum Computational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1036289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828800"/>
                <a:gridCol w="3870655"/>
              </a:tblGrid>
              <a:tr h="6139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Theoretical Drivers &amp; Distinctions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Image Preprocessing (CLAHE)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O(H *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O(H * 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Local adaptive histogram equalization per pixel (224x224)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CNN Feature Extraction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O(sum K_l^2 * C_in * C_out * H * 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O(sum C_l * H_l * W_l)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Feedforward convolution FLOPs through 18 ResNet residual layers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PCA Dimensionality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O(d^2 * N + d^3)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O(d^2)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SVD covariance matrix decomposition (d=512 -&gt; k=4 components)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Quantum Circuit Execution (QPU)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O(D * M) shots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O(n) physical qubits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Circuit depth D=7, M measurement shots on n=4 physical qubits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Classical Simulator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O(G * 2^n)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O(2^n) complex amplitudes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Exponential statevector simulation overhead on classical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Parameter-Shift Optimizer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F46E5"/>
                          </a:solidFill>
                          <a:latin typeface="Consolas"/>
                        </a:defRPr>
                      </a:pPr>
                      <a:r>
                        <a:t>O(2 P * E * B * T_circ)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O(P) gradient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Parameter-shift: 2 evaluations per parameter (P=18) per training sample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Technical Implementation &amp; Software Stack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Languages, Frameworks, and Core Quantum Circuit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Technology Stack &amp; Frameworks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Language: Python 3.11 (Native PyTorch CUDA &amp; PennyLane ecosystem)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Deep Learning: PyTorch 2.14 &amp; Torchvision (Pre-trained ResNet-18)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Quantum Simulation: PennyLane 0.45 (qml.device('default.qubit', wires=4))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Machine Learning: Scikit-Learn 1.9 (PCA, Support Vector Machines, MLP)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Image Processing: OpenCV &amp; Pillow (CLAHE contrast normalization, Grad-CAM)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Backend Web API: FastAPI + Uvicorn (Asynchronous REST endpoints)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Frontend Dashboard: Modern Light Theme HTML5 / Tailwind CSS / Chart.js SPA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Core PennyLane Quantum Circuit Code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Consolas"/>
              </a:defRPr>
            </a:pPr>
            <a:r>
              <a:t>import pennylane as qml</a:t>
            </a:r>
            <a:br/>
            <a:r>
              <a:t>import torch.nn as nn</a:t>
            </a:r>
            <a:br/>
            <a:br/>
            <a:r>
              <a:t># Quantum statevector simulator (4 wires)</a:t>
            </a:r>
            <a:br/>
            <a:r>
              <a:t>dev = qml.device('default.qubit', wires=4)</a:t>
            </a:r>
            <a:br/>
            <a:br/>
            <a:r>
              <a:t>@qml.qnode(dev, interface='torch', diff_method='parameter-shift')</a:t>
            </a:r>
            <a:br/>
            <a:r>
              <a:t>def quantum_circuit(inputs, weights):</a:t>
            </a:r>
            <a:br/>
            <a:r>
              <a:t>    # 1. State Encoding via Ry Rotations</a:t>
            </a:r>
            <a:br/>
            <a:r>
              <a:t>    for i in range(4):</a:t>
            </a:r>
            <a:br/>
            <a:r>
              <a:t>        qml.RY(inputs[i], wires=i)</a:t>
            </a:r>
            <a:br/>
            <a:br/>
            <a:r>
              <a:t>    # 2. Variational Entangling Ansatz</a:t>
            </a:r>
            <a:br/>
            <a:r>
              <a:t>    for layer in range(2):</a:t>
            </a:r>
            <a:br/>
            <a:r>
              <a:t>        for i in range(4):</a:t>
            </a:r>
            <a:br/>
            <a:r>
              <a:t>            qml.RY(weights[layer, i, 0], wires=i)</a:t>
            </a:r>
            <a:br/>
            <a:r>
              <a:t>            qml.RZ(weights[layer, i, 1], wires=i)</a:t>
            </a:r>
            <a:br/>
            <a:r>
              <a:t>        for i in range(4):</a:t>
            </a:r>
            <a:br/>
            <a:r>
              <a:t>            qml.CNOT(wires=[i, (i + 1) % 4])</a:t>
            </a:r>
            <a:br/>
            <a:br/>
            <a:r>
              <a:t>    # 3. Readout Observable Expectation</a:t>
            </a:r>
            <a:br/>
            <a:r>
              <a:t>    return qml.expval(qml.PauliZ(0))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Experimental Results &amp; Model Comparison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Rigorous Evaluation on Held-Out Test Split (66 Unseen Medical Scans)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91640"/>
          <a:ext cx="1036289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188720"/>
                <a:gridCol w="1188720"/>
                <a:gridCol w="1188720"/>
                <a:gridCol w="1280160"/>
                <a:gridCol w="1401775"/>
              </a:tblGrid>
              <a:tr h="441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Variational Quantum Classifier (VQC)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75.8%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2.60 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Support Vector Machine (RBF Kernel)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75.8%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1.10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Support Vector Machine (Linear)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86.7%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0.99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87.9%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86.7%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0.77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Multi-Layer Perceptron (4-16-8-1)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93.4%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1.21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70916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Key Scientific Observations: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1. Parity with Classical Non-Linear Baselines: The 4-qubit VQC achieved 83.3% test accuracy and 89.7% ROC-AUC, matching the classical RBF SVM exactly on identical PCA representations.</a:t>
            </a:r>
            <a:br/>
            <a:r>
              <a:t>2. Linear Separability of Pre-trained Features: Classical linear models reached 87.9% because ResNet-18 already concentrates pulmonary pathology into linearly separable clusters in the top PCA eigenvectors.</a:t>
            </a:r>
            <a:br/>
            <a:r>
              <a:t>3. High Parameter Efficiency: The Quantum VQC achieved its competitive 83.3% accuracy with only 18 trainable parameters, compared to 225 in the MLP and 158 support vectors in the SVM.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Future Directions</a:t>
            </a:r>
          </a:p>
          <a:p>
            <a:pPr>
              <a:spcBef>
                <a:spcPts val="300"/>
              </a:spcBef>
              <a:defRPr sz="1200">
                <a:solidFill>
                  <a:srgbClr val="2563EB"/>
                </a:solidFill>
                <a:latin typeface="Arial"/>
              </a:defRPr>
            </a:pPr>
            <a:r>
              <a:t>Summary of Capstone Achievements, NISQ Limits, and Research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Key Project Achievements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End-to-End Hybrid Pipeline: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Successfully built and connected ResNet-18 feature extraction, PCA compression, and PennyLane VQC on actual pediatric chest X-rays.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Verified 83.3% Test Accuracy: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Quantum model demonstrated robust generalization (89.7% ROC-AUC, 89.3% precision) on held-out benchmark test scans.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Working Interactive Prototype: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Delivered a full-stack FastAPI web application with real-time file upload, Grad-CAM overlays, and live circuit inspection.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✔ Rigorous Scientific Control: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Maintained uncompromised experimental standards with identical feature-space classical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Limitations &amp; Future Scope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→ Current Simulation Overhead: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Statevector simulation scales exponentially (O(2^n)). Future work involves deploying on physical QPUs (IBM Quantum Heron / IonQ).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→ Multi-Class Pathology Expansion: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Extending from binary classification (Normal vs Pneumonia) to multi-disease diagnosis (COVID-19, Tuberculosis, Atelectasis).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→ Quantum Convolutional Layers (QCNN):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Evaluating native quantum convolutional and pooling circuits directly on reduced feature patches.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→ External Clinical Pilot Studies: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 Multi-center clinical validation and radiologist-in-the-loop trials prior to any clinical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554480"/>
            <a:ext cx="761969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6705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Questions &amp; Technical Discussion</a:t>
            </a:r>
          </a:p>
          <a:p>
            <a:br/>
            <a:pPr algn="ctr"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Quantum AI-Based Medical Imaging System for Disease Diagnosis</a:t>
            </a:r>
            <a:br/>
            <a:r>
              <a:t>Interactive Web Prototype Ready for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