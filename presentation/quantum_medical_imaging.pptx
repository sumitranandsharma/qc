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2414016"/>
            <a:ext cx="8899855" cy="2467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dirty="0"/>
              <a:t>QUANTUM COMPUTING CAPSTONE PROJECT</a:t>
            </a:r>
          </a:p>
          <a:p>
            <a:pPr>
              <a:spcBef>
                <a:spcPts val="1200"/>
              </a:spcBef>
              <a:defRPr sz="2400" b="1">
                <a:solidFill>
                  <a:srgbClr val="0F172A"/>
                </a:solidFill>
              </a:defRPr>
            </a:pPr>
            <a:r>
              <a:rPr dirty="0"/>
              <a:t>Quantum AI-Based Medical Imaging System for Disease Diagnosis from Medical Scans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rPr dirty="0"/>
              <a:t>Modular Multi-Disease Architecture with Modality Extensibility &amp; Hybrid Quantum Machine Learning</a:t>
            </a:r>
          </a:p>
          <a:p>
            <a:pPr>
              <a:spcBef>
                <a:spcPts val="2000"/>
              </a:spcBef>
              <a:defRPr sz="1150">
                <a:solidFill>
                  <a:srgbClr val="64748B"/>
                </a:solidFill>
              </a:defRPr>
            </a:pPr>
            <a:r>
              <a:rPr dirty="0"/>
              <a:t>Candidate Details:</a:t>
            </a:r>
            <a:br>
              <a:rPr dirty="0"/>
            </a:br>
            <a:r>
              <a:rPr b="1" dirty="0"/>
              <a:t>• Student Name: [</a:t>
            </a:r>
            <a:r>
              <a:rPr lang="en-US" b="1" dirty="0"/>
              <a:t>BH. SUMITRANAND</a:t>
            </a:r>
            <a:r>
              <a:rPr b="1" dirty="0"/>
              <a:t>]   </a:t>
            </a:r>
            <a:r>
              <a:rPr lang="en-US" b="1" dirty="0"/>
              <a:t>[P. JEEVAN SANDEEP]</a:t>
            </a:r>
            <a:r>
              <a:rPr b="1" dirty="0"/>
              <a:t>  |     Roll Number: [</a:t>
            </a:r>
            <a:r>
              <a:rPr lang="en-US" b="1" dirty="0"/>
              <a:t>CH.SC.U4CSE24162</a:t>
            </a:r>
            <a:r>
              <a:rPr b="1" dirty="0"/>
              <a:t>]</a:t>
            </a:r>
            <a:r>
              <a:rPr lang="en-US" b="1" dirty="0"/>
              <a:t>   [CH.SC.U4CSE24162]</a:t>
            </a:r>
            <a:br>
              <a:rPr b="1" dirty="0"/>
            </a:br>
            <a:r>
              <a:rPr b="1" dirty="0"/>
              <a:t>• Department: Department of Computer Science &amp; Engineering</a:t>
            </a:r>
            <a:br>
              <a:rPr b="1" dirty="0"/>
            </a:b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Problem Statement &amp; Clinical Motivation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Radiological Bottlenecks, Multi-Disease Co-occurrence &amp; Hybrid QML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157984"/>
            <a:ext cx="4572000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rPr sz="1200" dirty="0"/>
              <a:t>Clinical Challenges in Medical Imaging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rPr sz="1200" dirty="0"/>
              <a:t>• Diagnostic Volume &amp; Backlogs: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rPr sz="1200" dirty="0"/>
              <a:t>   Hospitals interpret billions of medical images annually, leading to radiologist workload fatigue and acute triage delays.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rPr sz="1200" dirty="0"/>
              <a:t>• Multi-Pathology Co-occurrence: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rPr sz="1200" dirty="0"/>
              <a:t>   Real radiographs frequently display co-occurring findings (e.g. Infiltration, Effusion, and Consolidation) requiring multi-label detection rather than single-class assumptions.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rPr sz="1200" dirty="0"/>
              <a:t>• High Feature Dimensionality: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rPr sz="1200" dirty="0"/>
              <a:t>   Raw scans ($224 \times 224 \times 3 = 150,528$ values) cannot be directly fed to NISQ quantum processors due to coherence and gate depth limits.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rPr sz="1200" dirty="0"/>
              <a:t>• Physician-Centered AI: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rPr sz="1200" dirty="0"/>
              <a:t>   The system is formulated strictly as an educational assistive prototype, not an autonomous replacement for licensed doctors.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2157984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rPr dirty="0"/>
              <a:t>Role of Quantum Machine Learning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rPr dirty="0"/>
              <a:t>• Hilbert Space Representations: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rPr dirty="0"/>
              <a:t>   QML maps compressed visual features into $2^n$-dimensional complex Hilbert spaces using non-linear unitary transformations.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rPr dirty="0"/>
              <a:t>• Multi-Observable Readout: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rPr dirty="0"/>
              <a:t>   A single 4-qubit quantum circuit simultaneously measures 4 Pauli-Z observables $[\</a:t>
            </a:r>
            <a:r>
              <a:rPr dirty="0" err="1"/>
              <a:t>langle</a:t>
            </a:r>
            <a:r>
              <a:rPr dirty="0"/>
              <a:t> Z_0 \</a:t>
            </a:r>
            <a:r>
              <a:rPr dirty="0" err="1"/>
              <a:t>rangle</a:t>
            </a:r>
            <a:r>
              <a:rPr dirty="0"/>
              <a:t>, \</a:t>
            </a:r>
            <a:r>
              <a:rPr dirty="0" err="1"/>
              <a:t>langle</a:t>
            </a:r>
            <a:r>
              <a:rPr dirty="0"/>
              <a:t> Z_1 \</a:t>
            </a:r>
            <a:r>
              <a:rPr dirty="0" err="1"/>
              <a:t>rangle</a:t>
            </a:r>
            <a:r>
              <a:rPr dirty="0"/>
              <a:t>, \</a:t>
            </a:r>
            <a:r>
              <a:rPr dirty="0" err="1"/>
              <a:t>langle</a:t>
            </a:r>
            <a:r>
              <a:rPr dirty="0"/>
              <a:t> Z_2 \</a:t>
            </a:r>
            <a:r>
              <a:rPr dirty="0" err="1"/>
              <a:t>rangle</a:t>
            </a:r>
            <a:r>
              <a:rPr dirty="0"/>
              <a:t>, \</a:t>
            </a:r>
            <a:r>
              <a:rPr dirty="0" err="1"/>
              <a:t>langle</a:t>
            </a:r>
            <a:r>
              <a:rPr dirty="0"/>
              <a:t> Z_3 \</a:t>
            </a:r>
            <a:r>
              <a:rPr dirty="0" err="1"/>
              <a:t>rangle</a:t>
            </a:r>
            <a:r>
              <a:rPr dirty="0"/>
              <a:t>]$ to predict multi-label disease findings in sub-15ms.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rPr dirty="0"/>
              <a:t>• Hybrid Classical-Quantum Synergy: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rPr dirty="0"/>
              <a:t>   Pretrained classical CNN extracts inductive spatial textures; PCA compresses variance; Variational Quantum Circuit (VQC) executes parameterized classification.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rPr dirty="0"/>
              <a:t>• Transparent Scientific Evaluation: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rPr dirty="0"/>
              <a:t>   NISQ simulator reality is preserved: quantum circuits are benchmarked directly against identical-feature classical models without hyperbole.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Objectives &amp; Modular Modality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Dual Diagnostic Modes and Extensible Cross-Modality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Chest Radiograph (X-Ray)</a:t>
            </a:r>
          </a:p>
          <a:p>
            <a:pPr>
              <a:spcBef>
                <a:spcPts val="200"/>
              </a:spcBef>
              <a:defRPr sz="950" b="1">
                <a:solidFill>
                  <a:srgbClr val="2563EB"/>
                </a:solidFill>
              </a:defRPr>
            </a:pPr>
            <a:r>
              <a:t>[ACTIVE PIPELINE]</a:t>
            </a:r>
          </a:p>
          <a:p>
            <a:pPr>
              <a:spcBef>
                <a:spcPts val="200"/>
              </a:spcBef>
              <a:defRPr sz="1000">
                <a:solidFill>
                  <a:srgbClr val="4F46E5"/>
                </a:solidFill>
              </a:defRPr>
            </a:pPr>
            <a:r>
              <a:t>4 Qubits | Ry/Rz Ansatz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Evaluated on NIH ChestX-ray14 (8 findings) and Kermany pediatric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Computed Tomography (CT)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</a:defRPr>
            </a:pPr>
            <a:r>
              <a:t>[PLANNED / ROADMAP]</a:t>
            </a:r>
          </a:p>
          <a:p>
            <a:pPr>
              <a:spcBef>
                <a:spcPts val="200"/>
              </a:spcBef>
              <a:defRPr sz="1000">
                <a:solidFill>
                  <a:srgbClr val="4F46E5"/>
                </a:solidFill>
              </a:defRPr>
            </a:pPr>
            <a:r>
              <a:t>8 Qubits | TTN Ansatz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3D-ResNet volumetric feature extraction for axial pulmonary nodule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Magnetic Resonance (MRI)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</a:defRPr>
            </a:pPr>
            <a:r>
              <a:t>[PLANNED / ROADMAP]</a:t>
            </a:r>
          </a:p>
          <a:p>
            <a:pPr>
              <a:spcBef>
                <a:spcPts val="200"/>
              </a:spcBef>
              <a:defRPr sz="1000">
                <a:solidFill>
                  <a:srgbClr val="4F46E5"/>
                </a:solidFill>
              </a:defRPr>
            </a:pPr>
            <a:r>
              <a:t>8 Qubits | QCNN Ansatz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Multi-parametric T1/T2 soft-tissue mapping for neurological lesion screening.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55448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0" y="16459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Ultrasound (POCUS)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</a:defRPr>
            </a:pPr>
            <a:r>
              <a:t>[PLANNED / ROADMAP]</a:t>
            </a:r>
          </a:p>
          <a:p>
            <a:pPr>
              <a:spcBef>
                <a:spcPts val="200"/>
              </a:spcBef>
              <a:defRPr sz="1000">
                <a:solidFill>
                  <a:srgbClr val="4F46E5"/>
                </a:solidFill>
              </a:defRPr>
            </a:pPr>
            <a:r>
              <a:t>4 Qubits | Kernel Ridge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Point-of-care pleural B-line acoustic profile detection in emergency triage.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10728655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1018001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Key Engineering &amp; Research Milestones Accomplished: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1. Real Multi-Disease Pipeline: Evaluated on NIH ChestX-ray14 benchmark across 8 thoracic findings (Infiltration, Effusion, Atelectasis, Pneumothorax, Pneumonia, Cardiomegaly, Consolidation, No Finding).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2. Multi-Observable VQC: Single-circuit 4-qubit parameterized ansatz reading out all 4 Pauli-Z expectation values simultaneously.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3. Backward-Compatible Baseline: Preserves 83.3% accuracy binary triage mode (Normal vs Pneumonia on Kermany benchmark).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4. Strict Scientific Controls: Identical 4-component PCA feature vectors fed to both Quantum VQC and Classical Multi-Output Baselines.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Proposed Hybrid Classical-Quantum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End-to-End Processing Flow: Image Acquisition to Calibrated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01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Scan Acquisition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Chest radiograph input (224×224) via DICOM/JPEG upload or verified test gallery.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69164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02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Preprocessing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CLAHE contrast equalization &amp; ImageNet z-score intensity standardization.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69164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STAGE 03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CNN Feature Extractor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ResNet-18 penultimate pooling layer yields 512-dim latent visual representation + Grad-CAM.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STAGE 04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PCA Reduction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Orthogonal covariance projection compresses 512 dims down to 4 angles scaled to [0, π].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4069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STAGE 05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Quantum VQC Engine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Angle embedding, 2 entangling layers, simultaneous 4-qubit Pauli-Z expectation readout.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4069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STAGE 06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Findings &amp; Baselines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Calibrated finding scores (≥50% Detected, 25-49% Possible) + Classical concordance.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Variational Quantum Circuit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Multi-Observable Angle-Encoded Parameterized Ansatz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3606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rPr dirty="0"/>
              <a:t>Quantum Circuit Formulation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rPr sz="1200" dirty="0"/>
              <a:t>• Quantum Feature Map: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rPr sz="1200" dirty="0"/>
              <a:t>   Angle Embedding: |ψ(x)⟩ = ⨂ Ry(</a:t>
            </a:r>
            <a:r>
              <a:rPr sz="1200" dirty="0" err="1"/>
              <a:t>x_i</a:t>
            </a:r>
            <a:r>
              <a:rPr sz="1200" dirty="0"/>
              <a:t>)|0⟩ for </a:t>
            </a:r>
            <a:r>
              <a:rPr sz="1200" dirty="0" err="1"/>
              <a:t>i</a:t>
            </a:r>
            <a:r>
              <a:rPr sz="1200" dirty="0"/>
              <a:t> ∈ {0, 1, 2, 3}. Constant O(1) circuit depth.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rPr sz="1200" dirty="0"/>
              <a:t>• Single-Qubit Rotations: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rPr sz="1200" dirty="0"/>
              <a:t>   Trainable Ry(θ_{</a:t>
            </a:r>
            <a:r>
              <a:rPr sz="1200" dirty="0" err="1"/>
              <a:t>l,i</a:t>
            </a:r>
            <a:r>
              <a:rPr sz="1200" dirty="0"/>
              <a:t>}) and Rz(φ_{</a:t>
            </a:r>
            <a:r>
              <a:rPr sz="1200" dirty="0" err="1"/>
              <a:t>l,i</a:t>
            </a:r>
            <a:r>
              <a:rPr sz="1200" dirty="0"/>
              <a:t>}) rotations per layer (16 rotational parameters across 2 layers).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rPr sz="1200" dirty="0"/>
              <a:t>• Entanglement Topology: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rPr sz="1200" dirty="0"/>
              <a:t>   Circular CNOT ladder: CNOT(</a:t>
            </a:r>
            <a:r>
              <a:rPr sz="1200" dirty="0" err="1"/>
              <a:t>q_i</a:t>
            </a:r>
            <a:r>
              <a:rPr sz="1200" dirty="0"/>
              <a:t>, q_{(i+1) mod 4}) creates cross-qubit entanglement across the latent space.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rPr sz="1200" dirty="0"/>
              <a:t>• Multi-Observable Readout: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rPr sz="1200" dirty="0"/>
              <a:t>   Measures all 4 wires: e = [⟨Z₀⟩, ⟨Z₁⟩, ⟨Z₂⟩, ⟨Z₃⟩]^T ∈ [-1, 1]⁴ simultaneously in a single simulation pass.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rPr sz="1200" dirty="0"/>
              <a:t>• Linear Projection Head: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rPr sz="1200" dirty="0"/>
              <a:t>   z = </a:t>
            </a:r>
            <a:r>
              <a:rPr sz="1200" dirty="0" err="1"/>
              <a:t>W_q</a:t>
            </a:r>
            <a:r>
              <a:rPr sz="1200" dirty="0"/>
              <a:t> · e + </a:t>
            </a:r>
            <a:r>
              <a:rPr sz="1200" dirty="0" err="1"/>
              <a:t>b_q</a:t>
            </a:r>
            <a:r>
              <a:rPr sz="1200" dirty="0"/>
              <a:t> maps 4 expectations to 8 finding logits; σ(</a:t>
            </a:r>
            <a:r>
              <a:rPr sz="1200" dirty="0" err="1"/>
              <a:t>z_k</a:t>
            </a:r>
            <a:r>
              <a:rPr sz="1200" dirty="0"/>
              <a:t>) yields independent probabilities.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rPr sz="1200" dirty="0"/>
              <a:t>PennyLane Simulated Circuit Topology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Consolas"/>
              </a:defRPr>
            </a:pPr>
            <a:r>
              <a:rPr sz="1200" dirty="0"/>
              <a:t>|q₀⟩: ─Ry(x₀)─Ry(θ₀,₀)─Rz(φ₀,₀)─●───────╭X─ ... ─┤ ⟨Z₀⟩</a:t>
            </a:r>
            <a:br>
              <a:rPr sz="1200" dirty="0"/>
            </a:br>
            <a:r>
              <a:rPr sz="1200" dirty="0"/>
              <a:t>                                │       │</a:t>
            </a:r>
            <a:br>
              <a:rPr sz="1200" dirty="0"/>
            </a:br>
            <a:r>
              <a:rPr sz="1200" dirty="0"/>
              <a:t>|q₁⟩: ─Ry(x₁)─Ry(θ₀,₁)─Rz(φ₀,₁)─╰X─●─────│── ... ─┤ ⟨Z₁⟩</a:t>
            </a:r>
            <a:br>
              <a:rPr sz="1200" dirty="0"/>
            </a:br>
            <a:r>
              <a:rPr sz="1200" dirty="0"/>
              <a:t>                                   │     │</a:t>
            </a:r>
            <a:br>
              <a:rPr sz="1200" dirty="0"/>
            </a:br>
            <a:r>
              <a:rPr sz="1200" dirty="0"/>
              <a:t>|q₂⟩: ─Ry(x₂)─Ry(θ₀,₂)─Rz(φ₀,₂)────╰X─●──│── ... ─┤ ⟨Z₂⟩</a:t>
            </a:r>
            <a:br>
              <a:rPr sz="1200" dirty="0"/>
            </a:br>
            <a:r>
              <a:rPr sz="1200" dirty="0"/>
              <a:t>                                      │  │</a:t>
            </a:r>
            <a:br>
              <a:rPr sz="1200" dirty="0"/>
            </a:br>
            <a:r>
              <a:rPr sz="1200" dirty="0"/>
              <a:t>|q₃⟩: ─Ry(x₃)─Ry(θ₀,₃)─Rz(φ₀,₃)───────╰X─●── ... ─┤ ⟨Z₃⟩</a:t>
            </a:r>
            <a:br>
              <a:rPr sz="1200" dirty="0"/>
            </a:br>
            <a:br>
              <a:rPr sz="1200" dirty="0"/>
            </a:br>
            <a:r>
              <a:rPr sz="1200" dirty="0"/>
              <a:t>Complexity Summary:</a:t>
            </a:r>
            <a:br>
              <a:rPr sz="1200" dirty="0"/>
            </a:br>
            <a:r>
              <a:rPr sz="1200" dirty="0"/>
              <a:t>• Total Qubits: 4 simulated wires</a:t>
            </a:r>
            <a:br>
              <a:rPr sz="1200" dirty="0"/>
            </a:br>
            <a:r>
              <a:rPr sz="1200" dirty="0"/>
              <a:t>• Total Gates: 32 (4 Ry enc + 16 Ry/Rz rot + 8 CNOT + 4 Meas)</a:t>
            </a:r>
            <a:br>
              <a:rPr sz="1200" dirty="0"/>
            </a:br>
            <a:r>
              <a:rPr sz="1200" dirty="0"/>
              <a:t>• Parameter Count: 16 quantum angles + 40 head weights = 56</a:t>
            </a:r>
            <a:br>
              <a:rPr sz="1200" dirty="0"/>
            </a:br>
            <a:r>
              <a:rPr sz="1200" dirty="0"/>
              <a:t>• Gradient Rule: Analytical Parameter-Shift Rule (Zero </a:t>
            </a:r>
            <a:r>
              <a:rPr sz="1200" dirty="0" err="1"/>
              <a:t>approx</a:t>
            </a:r>
            <a:r>
              <a:rPr sz="1200" dirty="0"/>
              <a:t> error)</a:t>
            </a:r>
            <a:br>
              <a:rPr sz="1200" dirty="0"/>
            </a:br>
            <a:r>
              <a:rPr sz="1200" dirty="0"/>
              <a:t>• Execution Latency: 2.88 </a:t>
            </a:r>
            <a:r>
              <a:rPr sz="1200" dirty="0" err="1"/>
              <a:t>ms</a:t>
            </a:r>
            <a:r>
              <a:rPr sz="1200" dirty="0"/>
              <a:t> on simulator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Algorithm Complexity &amp; Simulation Characterization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Computational Costs: Classical Preprocessing vs Quantum Simulation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6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Pipeline Stage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Space Complexity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Engineering Characterization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Image Preprocessing (CLAHE)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O(H × 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O(H × 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Per-pixel local tile histogram redistribution.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CNN Extractor (ResNet-18)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O(∑ K_l² C_{l-1} C_l H_l W_l)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O(∑ C_l H_l W_l)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Penultimate global pooling forward convolution pass.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PCA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O(d² N + d³)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O(d²)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Covariance SVD decomposition from 512 dims to 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QPU Circuit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O(D · M) shots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O(n) physical qubits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Circuit depth D=2, shots M=1000, n=4 qubits.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Statevector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O(G · 2ⁿ)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O(2ⁿ) amplitudes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Exponential simulation overhead on classical hardware.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Parameter-Shift 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O(2 P · E · B · T_circ)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O(P) gradients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Exact analytical gradients: 2 shifted circuit runs/param.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Software Implementation &amp; PennyLane Integration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Full-Stack Python Framework: PyTorch, PennyLane QNode, and FastAPI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Modular Technology Stack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Quantum Simulator: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PennyLane 0.45.1 default.qubit statevector simulator with Torch interface.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Deep Learning Backbone: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PyTorch 2.14 GPU-accelerated ResNet-18 with Grad-CAM visual explainability.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Orthogonal Compression: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Scikit-Learn PCA reducing 512 continuous features into 4 rotation angles in [0, π].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REST API Backend: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FastAPI asynchronous service exposing /api/modalities, /api/analyze, /api/circuit, and /api/benchmarks.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Light Clinical Dashboard: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Tailwind CSS single-page interface with interactive circuit viewer and Chart.js.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Multi-Observable QNode Implementation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Consolas"/>
              </a:defRPr>
            </a:pPr>
            <a:r>
              <a:t>@qml.qnode(dev, interface='torch', diff_method='parameter-shift')</a:t>
            </a:r>
            <a:br/>
            <a:r>
              <a:t>def circuit(inputs, weights):</a:t>
            </a:r>
            <a:br/>
            <a:r>
              <a:t>    # 1. Quantum Angle Encoding</a:t>
            </a:r>
            <a:br/>
            <a:r>
              <a:t>    for i in range(n_qubits):</a:t>
            </a:r>
            <a:br/>
            <a:r>
              <a:t>        qml.RY(inputs[i], wires=i)</a:t>
            </a:r>
            <a:br/>
            <a:br/>
            <a:r>
              <a:t>    # 2. Variational Entangling Layers</a:t>
            </a:r>
            <a:br/>
            <a:r>
              <a:t>    for l in range(n_layers):</a:t>
            </a:r>
            <a:br/>
            <a:r>
              <a:t>        for i in range(n_qubits):</a:t>
            </a:r>
            <a:br/>
            <a:r>
              <a:t>            qml.RY(weights[l, i, 0], wires=i)</a:t>
            </a:r>
            <a:br/>
            <a:r>
              <a:t>            qml.RZ(weights[l, i, 1], wires=i)</a:t>
            </a:r>
            <a:br/>
            <a:r>
              <a:t>        for i in range(n_qubits):</a:t>
            </a:r>
            <a:br/>
            <a:r>
              <a:t>            qml.CNOT(wires=[i, (i + 1) % n_qubits])</a:t>
            </a:r>
            <a:br/>
            <a:br/>
            <a:r>
              <a:t>    # 3. Multi-Observable Expectation Readout</a:t>
            </a:r>
            <a:br/>
            <a:r>
              <a:t>    return [qml.expval(qml.PauliZ(i)) for i in range(n_qubits)]</a:t>
            </a:r>
            <a:br/>
            <a:br/>
            <a:r>
              <a:t># 4. Classical Projection Head</a:t>
            </a:r>
            <a:br/>
            <a:r>
              <a:t>logits = linear_head(torch.stack(expvals))</a:t>
            </a:r>
            <a:br/>
            <a:r>
              <a:t>probabilities = torch.sigmoid(logits)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Experimental Benchmark Results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Held-Out Test Set Performance: Multi-Disease &amp; Binary Triage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rPr dirty="0"/>
              <a:t>1. </a:t>
            </a:r>
            <a:r>
              <a:rPr sz="1400" dirty="0"/>
              <a:t>Multi-Disease Thoracic Findings Benchmark (NIH ChestX-ray14)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rPr sz="1400" dirty="0"/>
              <a:t>• Quantum Multi-Observable VQC: Hamming Loss = 0.1500 (85.0% label match) | Subset Acc = 33.3% | Latency = 2.88 </a:t>
            </a:r>
            <a:r>
              <a:rPr sz="1400" dirty="0" err="1"/>
              <a:t>ms</a:t>
            </a:r>
            <a:br>
              <a:rPr sz="1400" dirty="0"/>
            </a:br>
            <a:r>
              <a:rPr sz="1400" dirty="0"/>
              <a:t>• Multi-Output Logistic Regression: Hamming Loss = 0.1000 | Subset Acc = 26.7% | Latency = 0.07 </a:t>
            </a:r>
            <a:r>
              <a:rPr sz="1400" dirty="0" err="1"/>
              <a:t>ms</a:t>
            </a:r>
            <a:br>
              <a:rPr sz="1400" dirty="0"/>
            </a:br>
            <a:r>
              <a:rPr sz="1400" dirty="0"/>
              <a:t>• Multi-Label MLP (Neural Baseline): Hamming Loss = 0.1167 | Subset Acc = 33.3% | Latency = 0.07 </a:t>
            </a:r>
            <a:r>
              <a:rPr sz="1400" dirty="0" err="1"/>
              <a:t>ms</a:t>
            </a:r>
            <a:br>
              <a:rPr sz="1400" dirty="0"/>
            </a:br>
            <a:r>
              <a:rPr sz="1400" dirty="0"/>
              <a:t>• Top Predicted Findings: Infiltration (F1 = 0.33), Effusion (F1 = 0.22), No Finding (F1 = 0.63)</a:t>
            </a:r>
            <a:br>
              <a:rPr sz="1400" dirty="0"/>
            </a:br>
            <a:r>
              <a:rPr sz="1400" dirty="0"/>
              <a:t>• Finding Concordance: Quantum VQC successfully captures multi-label pathology correlations with only 56 total parameters.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72865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dirty="0"/>
              <a:t>2. </a:t>
            </a:r>
            <a:r>
              <a:rPr sz="1400" dirty="0"/>
              <a:t>Binary Triage Baseline Benchmark (Normal vs Pneumonia, </a:t>
            </a:r>
            <a:r>
              <a:rPr sz="1400" dirty="0" err="1"/>
              <a:t>Kermany</a:t>
            </a:r>
            <a:r>
              <a:rPr sz="1400" dirty="0"/>
              <a:t> Dataset)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rPr sz="1400" dirty="0"/>
              <a:t>• Quantum VQC (4 Qubits): Accuracy = 83.3% | F1 = 82.0% | Sensitivity = 75.8% | Specificity = 90.9% | ROC-AUC = 89.7%</a:t>
            </a:r>
            <a:br>
              <a:rPr sz="1400" dirty="0"/>
            </a:br>
            <a:r>
              <a:rPr sz="1400" dirty="0"/>
              <a:t>• Classical SVM (RBF Kernel): Accuracy = 83.3% | F1 = 82.0% | Sensitivity = 75.8% | Specificity = 90.9% | ROC-AUC = 89.2%</a:t>
            </a:r>
            <a:br>
              <a:rPr sz="1400" dirty="0"/>
            </a:br>
            <a:r>
              <a:rPr sz="1400" dirty="0"/>
              <a:t>• Classical Logistic Regression: Accuracy = 87.9% | F1 = 87.9% | Sensitivity = 87.9% | Specificity = 87.9% | ROC-AUC = 91.5%</a:t>
            </a:r>
            <a:br>
              <a:rPr sz="1400" dirty="0"/>
            </a:br>
            <a:r>
              <a:rPr sz="1400" dirty="0"/>
              <a:t>• Key Insight: Quantum VQC achieves exact parity with classical RBF SVM (83.3%), confirming viable decision boundaries in Hilbert 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Conclusion &amp; Future Research Directions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Capstone Achievements, Scientific Realities, and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Major Accomplishments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Modular Multi-Disease Prototype: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Delivered a fully working hybrid classical-quantum medical imaging system capable of evaluating multi-label thoracic findings.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Real Multi-Observable Readout: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Formulated and executed simultaneous 4-qubit Pauli-Z expectation measurements on a PennyLane simulator.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Scientific Integrity: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Demonstrated that classical linear baselines currently execute faster and achieve high accuracy on top PCA features, avoiding false supremacy claims.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Clinical Decision-Support UI: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Interactive single-page dashboard with drag &amp; drop upload, Grad-CAM heatmaps, circuit inspector, and 14 showcase scans.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Future Research Directions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Physical QPU Deployment: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Execute the trained VQC on IBM Quantum / IonQ cloud backends with Zero-Noise Extrapolation (ZNE) error mitigation.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Modality Implementation: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Implement the planned 3D CT and MRI volumetric backbones with Tree Tensor Network and QCNN ansätze.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Quantum Kernel Methods: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Investigate Quantum Support Vector Machines (QSVM) using fidelity kernels to test theoretical quantum feature separation.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• Clinical Prospective Trials: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Transition beyond educational prototypes toward prospective multi-center validation under IRB protocol.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7619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1800">
                <a:solidFill>
                  <a:srgbClr val="2563EB"/>
                </a:solidFill>
              </a:defRPr>
            </a:pPr>
            <a:r>
              <a:t>Questions &amp; Defense Discussion</a:t>
            </a:r>
          </a:p>
          <a:p>
            <a:pPr algn="ctr">
              <a:spcBef>
                <a:spcPts val="2400"/>
              </a:spcBef>
              <a:defRPr sz="1200">
                <a:solidFill>
                  <a:srgbClr val="64748B"/>
                </a:solidFill>
              </a:defRPr>
            </a:pPr>
            <a:r>
              <a:t>Quantum AI-Based Medical Imaging System for Disease Diagnosis</a:t>
            </a:r>
            <a:br/>
            <a:br/>
            <a:r>
              <a:t>Student Name: [Student Name]  |  Roll Number: [Roll Number]</a:t>
            </a:r>
            <a:br/>
            <a:r>
              <a:t>Capstone Evaluation Committee (2025–2026)</a:t>
            </a:r>
            <a:br/>
            <a:r>
              <a:t>Live Working Prototype: http://localhost:8000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2171</Words>
  <Application>Microsoft Office PowerPoint</Application>
  <PresentationFormat>Widescreen</PresentationFormat>
  <Paragraphs>156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Sumitranand Sharma Bhogapurapu</cp:lastModifiedBy>
  <cp:revision>2</cp:revision>
  <dcterms:created xsi:type="dcterms:W3CDTF">2013-01-27T09:14:16Z</dcterms:created>
  <dcterms:modified xsi:type="dcterms:W3CDTF">2026-10-11T16:29:39Z</dcterms:modified>
  <cp:category/>
</cp:coreProperties>
</file>