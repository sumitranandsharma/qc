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C0A0797-76D8-7D33-69AF-5FC8C8476875}">
          <p14:sldIdLst>
            <p14:sldId id="256"/>
            <p14:sldId id="257"/>
            <p14:sldId id="258"/>
          </p14:sldIdLst>
        </p14:section>
        <p14:section name="Algorithm" id="{402C6FAA-9F0A-A244-472E-C07AC49021AC}">
          <p14:sldIdLst>
            <p14:sldId id="259"/>
            <p14:sldId id="260"/>
            <p14:sldId id="261"/>
          </p14:sldIdLst>
        </p14:section>
        <p14:section name="Analysis" id="{254DFADB-69A5-70A5-E520-C7F013D695A6}">
          <p14:sldIdLst>
            <p14:sldId id="262"/>
            <p14:sldId id="263"/>
            <p14:sldId id="264"/>
            <p14:sldId id="265"/>
          </p14:sldIdLst>
        </p14:section>
        <p14:section name="Wrap-up" id="{0E5F464F-FF5B-ABED-3B9A-6B01FF9F6FF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+mn-lt"/>
              </a:rPr>
              <a:t>Multi-disease benchmark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 match (1 − Hamming loss),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Quantum VQC</c:v>
                </c:pt>
                <c:pt idx="1">
                  <c:v>Logistic Regression</c:v>
                </c:pt>
                <c:pt idx="2">
                  <c:v>Multi-label MLP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90</c:v>
                </c:pt>
                <c:pt idx="2">
                  <c:v>88.3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F0-480D-931E-4B2428D256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Subset accuracy,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Quantum VQC</c:v>
                </c:pt>
                <c:pt idx="1">
                  <c:v>Logistic Regression</c:v>
                </c:pt>
                <c:pt idx="2">
                  <c:v>Multi-label MLP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33.299999999999997</c:v>
                </c:pt>
                <c:pt idx="1">
                  <c:v>26.7</c:v>
                </c:pt>
                <c:pt idx="2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F0-480D-931E-4B2428D256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+mn-lt"/>
              </a:rPr>
              <a:t>Test-set metrics, %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Quantum VQC (4 qubits)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F1</c:v>
                </c:pt>
                <c:pt idx="2">
                  <c:v>Sensitivity</c:v>
                </c:pt>
                <c:pt idx="3">
                  <c:v>Specificity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83.3</c:v>
                </c:pt>
                <c:pt idx="1">
                  <c:v>82</c:v>
                </c:pt>
                <c:pt idx="2">
                  <c:v>75.8</c:v>
                </c:pt>
                <c:pt idx="3">
                  <c:v>90.9</c:v>
                </c:pt>
                <c:pt idx="4">
                  <c:v>89.7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89-4B4F-8549-2B5A04AC39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Classical SVM (RBF)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F1</c:v>
                </c:pt>
                <c:pt idx="2">
                  <c:v>Sensitivity</c:v>
                </c:pt>
                <c:pt idx="3">
                  <c:v>Specificity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83.3</c:v>
                </c:pt>
                <c:pt idx="1">
                  <c:v>82</c:v>
                </c:pt>
                <c:pt idx="2">
                  <c:v>75.8</c:v>
                </c:pt>
                <c:pt idx="3">
                  <c:v>90.9</c:v>
                </c:pt>
                <c:pt idx="4">
                  <c:v>89.2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89-4B4F-8549-2B5A04AC39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F1</c:v>
                </c:pt>
                <c:pt idx="2">
                  <c:v>Sensitivity</c:v>
                </c:pt>
                <c:pt idx="3">
                  <c:v>Specificity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87.9</c:v>
                </c:pt>
                <c:pt idx="1">
                  <c:v>87.9</c:v>
                </c:pt>
                <c:pt idx="2">
                  <c:v>87.9</c:v>
                </c:pt>
                <c:pt idx="3">
                  <c:v>87.9</c:v>
                </c:pt>
                <c:pt idx="4">
                  <c:v>91.5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89-4B4F-8549-2B5A04AC39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99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hybrid classical–quantum pipeline that reads chest X-rays and predicts eight thoracic findings using a 4-qubit variational quantum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has three parts: workload, multi-disease co-occurrence, and the input-size gap between images and NISQ devices. The system is an educational assistive prototype, not a replacement for doctors.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questions: how, approach, algorithm. The right panel lists the concrete objectives that the evaluation later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1–3 are classical preprocessing and compression; steps 4–6 are the quantum part. The blue badges mark classical steps and indigo badges mark quantum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Flowchart on the left shows the full data path. The circuit on the right shows angle encoding, two variational layers (RY, RZ, circular CNOT ladder) and four Pauli-Z readouts.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loops over mini-batches: classical feature extraction and PCA feed the quantum circuit; parameter-shift gives exact gradients for the quantum angles and backpropagation handles the linear head. Loss and optimizer are the standard multi-label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and space complexity per stage. Key message: the quantum circuit is small and shallow; classical simulation cost is exponential in qubits but trivial at n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QNode: encoding, two variational layers with CNOT ladder, and the four-observable readout, followed by the classical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Per-finding F1: Infiltration 0.33, Effusion 0.22, No Finding 0.63. The quantum model uses only 56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quantum classifier reaches exact parity with the RBF SVM on accuracy and F1, which shows its decision boundary in Hilbert space is viable. Logistic regression is slightly better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honestly: the prototype works and is competitive, but the simulator shows no quantum speed or accuracy advantage over simple classical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002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97180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7DD3FC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Quantum AI-Based Medical Imaging System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731520" y="1051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DD3FC"/>
                </a:solidFill>
              </a:rPr>
              <a:t>QUANTUM COMPUTING CAPSTONE PROJECT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002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Quantum AI-Based Medical Imaging System for Disease Diagnosis from Medical Scans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Hybrid Classical–Quantum Machine Learning for Multi-Disease Chest Radiograph Analysis</a:t>
            </a:r>
            <a:endParaRPr lang="en-US" sz="1800" dirty="0"/>
          </a:p>
        </p:txBody>
      </p:sp>
      <p:sp>
        <p:nvSpPr>
          <p:cNvPr id="5" name="id-card-2"/>
          <p:cNvSpPr/>
          <p:nvPr/>
        </p:nvSpPr>
        <p:spPr>
          <a:xfrm>
            <a:off x="731519" y="4892040"/>
            <a:ext cx="6957391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6" name="text-3"/>
          <p:cNvSpPr txBox="1"/>
          <p:nvPr/>
        </p:nvSpPr>
        <p:spPr>
          <a:xfrm>
            <a:off x="1013790" y="5037151"/>
            <a:ext cx="62775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DD3FC"/>
                </a:solidFill>
              </a:rPr>
              <a:t>Student Name: </a:t>
            </a:r>
            <a:r>
              <a:rPr lang="en-US" sz="1800" dirty="0">
                <a:solidFill>
                  <a:schemeClr val="bg1"/>
                </a:solidFill>
              </a:rPr>
              <a:t>[B. SUMITRANAND] [P.JEEVAN SANDEEP]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DD3FC"/>
                </a:solidFill>
              </a:rPr>
              <a:t>Roll Number: </a:t>
            </a:r>
            <a:r>
              <a:rPr lang="en-US" sz="1800" dirty="0">
                <a:solidFill>
                  <a:schemeClr val="bg1"/>
                </a:solidFill>
              </a:rPr>
              <a:t>[</a:t>
            </a:r>
            <a:r>
              <a:rPr lang="en-US" dirty="0">
                <a:solidFill>
                  <a:schemeClr val="bg1"/>
                </a:solidFill>
              </a:rPr>
              <a:t>CH.SC.U4CSE24162</a:t>
            </a:r>
            <a:r>
              <a:rPr lang="en-US" sz="1800" dirty="0">
                <a:solidFill>
                  <a:schemeClr val="bg1"/>
                </a:solidFill>
              </a:rPr>
              <a:t>] [CH.SC.U4CSE24134]</a:t>
            </a:r>
            <a:endParaRPr lang="en-US" sz="1800" dirty="0"/>
          </a:p>
        </p:txBody>
      </p:sp>
      <p:sp>
        <p:nvSpPr>
          <p:cNvPr id="7" name="text-4"/>
          <p:cNvSpPr txBox="1"/>
          <p:nvPr/>
        </p:nvSpPr>
        <p:spPr>
          <a:xfrm>
            <a:off x="73152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Department of Computer Science &amp; Engineering  |  B.Tech Capstone Project (2025–2026)</a:t>
            </a:r>
            <a:endParaRPr lang="en-US" sz="1200" dirty="0"/>
          </a:p>
        </p:txBody>
      </p:sp>
      <p:sp>
        <p:nvSpPr>
          <p:cNvPr id="8" name="wire-5"/>
          <p:cNvSpPr/>
          <p:nvPr/>
        </p:nvSpPr>
        <p:spPr>
          <a:xfrm>
            <a:off x="7955280" y="2103120"/>
            <a:ext cx="36576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" name="wire-6"/>
          <p:cNvSpPr/>
          <p:nvPr/>
        </p:nvSpPr>
        <p:spPr>
          <a:xfrm>
            <a:off x="7955280" y="2926080"/>
            <a:ext cx="36576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0" name="wire-7"/>
          <p:cNvSpPr/>
          <p:nvPr/>
        </p:nvSpPr>
        <p:spPr>
          <a:xfrm>
            <a:off x="7955280" y="3749040"/>
            <a:ext cx="36576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1" name="wire-8"/>
          <p:cNvSpPr/>
          <p:nvPr/>
        </p:nvSpPr>
        <p:spPr>
          <a:xfrm>
            <a:off x="7955280" y="4572000"/>
            <a:ext cx="36576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2" name="gate-9"/>
          <p:cNvSpPr/>
          <p:nvPr/>
        </p:nvSpPr>
        <p:spPr>
          <a:xfrm>
            <a:off x="8183880" y="192024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3" name="text-10"/>
          <p:cNvSpPr txBox="1"/>
          <p:nvPr/>
        </p:nvSpPr>
        <p:spPr>
          <a:xfrm>
            <a:off x="818388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RY</a:t>
            </a:r>
            <a:endParaRPr lang="en-US" sz="1200" dirty="0"/>
          </a:p>
        </p:txBody>
      </p:sp>
      <p:sp>
        <p:nvSpPr>
          <p:cNvPr id="14" name="gate-11"/>
          <p:cNvSpPr/>
          <p:nvPr/>
        </p:nvSpPr>
        <p:spPr>
          <a:xfrm>
            <a:off x="8183880" y="274320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5" name="text-12"/>
          <p:cNvSpPr txBox="1"/>
          <p:nvPr/>
        </p:nvSpPr>
        <p:spPr>
          <a:xfrm>
            <a:off x="818388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RY</a:t>
            </a:r>
            <a:endParaRPr lang="en-US" sz="1200" dirty="0"/>
          </a:p>
        </p:txBody>
      </p:sp>
      <p:sp>
        <p:nvSpPr>
          <p:cNvPr id="16" name="gate-13"/>
          <p:cNvSpPr/>
          <p:nvPr/>
        </p:nvSpPr>
        <p:spPr>
          <a:xfrm>
            <a:off x="8183880" y="356616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7" name="text-14"/>
          <p:cNvSpPr txBox="1"/>
          <p:nvPr/>
        </p:nvSpPr>
        <p:spPr>
          <a:xfrm>
            <a:off x="8183880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RY</a:t>
            </a:r>
            <a:endParaRPr lang="en-US" sz="1200" dirty="0"/>
          </a:p>
        </p:txBody>
      </p:sp>
      <p:sp>
        <p:nvSpPr>
          <p:cNvPr id="18" name="gate-15"/>
          <p:cNvSpPr/>
          <p:nvPr/>
        </p:nvSpPr>
        <p:spPr>
          <a:xfrm>
            <a:off x="8183880" y="438912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9" name="text-16"/>
          <p:cNvSpPr txBox="1"/>
          <p:nvPr/>
        </p:nvSpPr>
        <p:spPr>
          <a:xfrm>
            <a:off x="818388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RY</a:t>
            </a:r>
            <a:endParaRPr lang="en-US" sz="1200" dirty="0"/>
          </a:p>
        </p:txBody>
      </p:sp>
      <p:sp>
        <p:nvSpPr>
          <p:cNvPr id="20" name="gate-17"/>
          <p:cNvSpPr/>
          <p:nvPr/>
        </p:nvSpPr>
        <p:spPr>
          <a:xfrm>
            <a:off x="9052560" y="192024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21" name="text-18"/>
          <p:cNvSpPr txBox="1"/>
          <p:nvPr/>
        </p:nvSpPr>
        <p:spPr>
          <a:xfrm>
            <a:off x="905256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RY</a:t>
            </a:r>
            <a:endParaRPr lang="en-US" sz="1200" dirty="0"/>
          </a:p>
        </p:txBody>
      </p:sp>
      <p:sp>
        <p:nvSpPr>
          <p:cNvPr id="22" name="gate-19"/>
          <p:cNvSpPr/>
          <p:nvPr/>
        </p:nvSpPr>
        <p:spPr>
          <a:xfrm>
            <a:off x="9052560" y="274320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23" name="text-20"/>
          <p:cNvSpPr txBox="1"/>
          <p:nvPr/>
        </p:nvSpPr>
        <p:spPr>
          <a:xfrm>
            <a:off x="905256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RZ</a:t>
            </a:r>
            <a:endParaRPr lang="en-US" sz="1200" dirty="0"/>
          </a:p>
        </p:txBody>
      </p:sp>
      <p:sp>
        <p:nvSpPr>
          <p:cNvPr id="24" name="gate-21"/>
          <p:cNvSpPr/>
          <p:nvPr/>
        </p:nvSpPr>
        <p:spPr>
          <a:xfrm>
            <a:off x="9052560" y="356616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25" name="text-22"/>
          <p:cNvSpPr txBox="1"/>
          <p:nvPr/>
        </p:nvSpPr>
        <p:spPr>
          <a:xfrm>
            <a:off x="9052560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RY</a:t>
            </a:r>
            <a:endParaRPr lang="en-US" sz="1200" dirty="0"/>
          </a:p>
        </p:txBody>
      </p:sp>
      <p:sp>
        <p:nvSpPr>
          <p:cNvPr id="26" name="gate-23"/>
          <p:cNvSpPr/>
          <p:nvPr/>
        </p:nvSpPr>
        <p:spPr>
          <a:xfrm>
            <a:off x="9052560" y="4389120"/>
            <a:ext cx="64008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27" name="text-24"/>
          <p:cNvSpPr txBox="1"/>
          <p:nvPr/>
        </p:nvSpPr>
        <p:spPr>
          <a:xfrm>
            <a:off x="905256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RZ</a:t>
            </a:r>
            <a:endParaRPr lang="en-US" sz="1200" dirty="0"/>
          </a:p>
        </p:txBody>
      </p:sp>
      <p:sp>
        <p:nvSpPr>
          <p:cNvPr id="28" name="cnot-line-25"/>
          <p:cNvSpPr/>
          <p:nvPr/>
        </p:nvSpPr>
        <p:spPr>
          <a:xfrm>
            <a:off x="10058400" y="2103120"/>
            <a:ext cx="0" cy="8229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9" name="cnot-ctrl-26"/>
          <p:cNvSpPr/>
          <p:nvPr/>
        </p:nvSpPr>
        <p:spPr>
          <a:xfrm>
            <a:off x="9994392" y="2039112"/>
            <a:ext cx="128016" cy="12801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0" name="cnot-tgt-27"/>
          <p:cNvSpPr/>
          <p:nvPr/>
        </p:nvSpPr>
        <p:spPr>
          <a:xfrm>
            <a:off x="9930384" y="279806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1" name="cnot-line-28"/>
          <p:cNvSpPr/>
          <p:nvPr/>
        </p:nvSpPr>
        <p:spPr>
          <a:xfrm>
            <a:off x="10424160" y="2926080"/>
            <a:ext cx="0" cy="8229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2" name="cnot-ctrl-29"/>
          <p:cNvSpPr/>
          <p:nvPr/>
        </p:nvSpPr>
        <p:spPr>
          <a:xfrm>
            <a:off x="10360152" y="2862072"/>
            <a:ext cx="128016" cy="12801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3" name="cnot-tgt-30"/>
          <p:cNvSpPr/>
          <p:nvPr/>
        </p:nvSpPr>
        <p:spPr>
          <a:xfrm>
            <a:off x="10296144" y="362102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4" name="cnot-line-31"/>
          <p:cNvSpPr/>
          <p:nvPr/>
        </p:nvSpPr>
        <p:spPr>
          <a:xfrm>
            <a:off x="10789920" y="3749040"/>
            <a:ext cx="0" cy="8229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5" name="cnot-ctrl-32"/>
          <p:cNvSpPr/>
          <p:nvPr/>
        </p:nvSpPr>
        <p:spPr>
          <a:xfrm>
            <a:off x="10725912" y="3685032"/>
            <a:ext cx="128016" cy="12801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6" name="cnot-tgt-33"/>
          <p:cNvSpPr/>
          <p:nvPr/>
        </p:nvSpPr>
        <p:spPr>
          <a:xfrm>
            <a:off x="10661904" y="444398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7" name="meas-34"/>
          <p:cNvSpPr/>
          <p:nvPr/>
        </p:nvSpPr>
        <p:spPr>
          <a:xfrm>
            <a:off x="11064240" y="1920240"/>
            <a:ext cx="54864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38" name="text-35"/>
          <p:cNvSpPr txBox="1"/>
          <p:nvPr/>
        </p:nvSpPr>
        <p:spPr>
          <a:xfrm>
            <a:off x="1106424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⟨Z⟩</a:t>
            </a:r>
            <a:endParaRPr lang="en-US" sz="1200" dirty="0"/>
          </a:p>
        </p:txBody>
      </p:sp>
      <p:sp>
        <p:nvSpPr>
          <p:cNvPr id="39" name="meas-36"/>
          <p:cNvSpPr/>
          <p:nvPr/>
        </p:nvSpPr>
        <p:spPr>
          <a:xfrm>
            <a:off x="11064240" y="2743200"/>
            <a:ext cx="54864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40" name="text-37"/>
          <p:cNvSpPr txBox="1"/>
          <p:nvPr/>
        </p:nvSpPr>
        <p:spPr>
          <a:xfrm>
            <a:off x="1106424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⟨Z⟩</a:t>
            </a:r>
            <a:endParaRPr lang="en-US" sz="1200" dirty="0"/>
          </a:p>
        </p:txBody>
      </p:sp>
      <p:sp>
        <p:nvSpPr>
          <p:cNvPr id="41" name="meas-38"/>
          <p:cNvSpPr/>
          <p:nvPr/>
        </p:nvSpPr>
        <p:spPr>
          <a:xfrm>
            <a:off x="11064240" y="3566160"/>
            <a:ext cx="54864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42" name="text-39"/>
          <p:cNvSpPr txBox="1"/>
          <p:nvPr/>
        </p:nvSpPr>
        <p:spPr>
          <a:xfrm>
            <a:off x="1106424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⟨Z⟩</a:t>
            </a:r>
            <a:endParaRPr lang="en-US" sz="1200" dirty="0"/>
          </a:p>
        </p:txBody>
      </p:sp>
      <p:sp>
        <p:nvSpPr>
          <p:cNvPr id="43" name="meas-40"/>
          <p:cNvSpPr/>
          <p:nvPr/>
        </p:nvSpPr>
        <p:spPr>
          <a:xfrm>
            <a:off x="11064240" y="4389120"/>
            <a:ext cx="54864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44" name="text-41"/>
          <p:cNvSpPr txBox="1"/>
          <p:nvPr/>
        </p:nvSpPr>
        <p:spPr>
          <a:xfrm>
            <a:off x="1106424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⟨Z⟩</a:t>
            </a:r>
            <a:endParaRPr lang="en-US" sz="1200" dirty="0"/>
          </a:p>
        </p:txBody>
      </p:sp>
      <p:sp>
        <p:nvSpPr>
          <p:cNvPr id="45" name="text-42"/>
          <p:cNvSpPr txBox="1"/>
          <p:nvPr/>
        </p:nvSpPr>
        <p:spPr>
          <a:xfrm>
            <a:off x="795528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Chest X-ray → 4 qubits → 8 findings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Why chest X-ray diagnosis needs help, and why quantum machine learning is worth testing</a:t>
            </a:r>
            <a:endParaRPr lang="en-US" sz="1600" dirty="0"/>
          </a:p>
        </p:txBody>
      </p:sp>
      <p:sp>
        <p:nvSpPr>
          <p:cNvPr id="4" name="card-43"/>
          <p:cNvSpPr/>
          <p:nvPr/>
        </p:nvSpPr>
        <p:spPr>
          <a:xfrm>
            <a:off x="548640" y="160020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5" name="badge-44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45"/>
          <p:cNvSpPr txBox="1"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46"/>
          <p:cNvSpPr txBox="1"/>
          <p:nvPr/>
        </p:nvSpPr>
        <p:spPr>
          <a:xfrm>
            <a:off x="1280160" y="1783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problem?</a:t>
            </a:r>
            <a:endParaRPr lang="en-US" sz="1800" dirty="0"/>
          </a:p>
        </p:txBody>
      </p:sp>
      <p:sp>
        <p:nvSpPr>
          <p:cNvPr id="8" name="text-47"/>
          <p:cNvSpPr txBox="1"/>
          <p:nvPr/>
        </p:nvSpPr>
        <p:spPr>
          <a:xfrm>
            <a:off x="777240" y="2331720"/>
            <a:ext cx="3154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Radiologist overload causes fatigue and triage delays.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scans (150,528 values) are too big for NISQ hardware.</a:t>
            </a:r>
            <a:endParaRPr lang="en-US" sz="1400" dirty="0"/>
          </a:p>
        </p:txBody>
      </p:sp>
      <p:sp>
        <p:nvSpPr>
          <p:cNvPr id="9" name="card-48"/>
          <p:cNvSpPr/>
          <p:nvPr/>
        </p:nvSpPr>
        <p:spPr>
          <a:xfrm>
            <a:off x="4311396" y="160020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0" name="badge-49"/>
          <p:cNvSpPr/>
          <p:nvPr/>
        </p:nvSpPr>
        <p:spPr>
          <a:xfrm>
            <a:off x="4539996" y="1783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-50"/>
          <p:cNvSpPr txBox="1"/>
          <p:nvPr/>
        </p:nvSpPr>
        <p:spPr>
          <a:xfrm>
            <a:off x="453999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51"/>
          <p:cNvSpPr txBox="1"/>
          <p:nvPr/>
        </p:nvSpPr>
        <p:spPr>
          <a:xfrm>
            <a:off x="5042916" y="1783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solve it?</a:t>
            </a:r>
            <a:endParaRPr lang="en-US" sz="1800" dirty="0"/>
          </a:p>
        </p:txBody>
      </p:sp>
      <p:sp>
        <p:nvSpPr>
          <p:cNvPr id="13" name="text-52"/>
          <p:cNvSpPr txBox="1"/>
          <p:nvPr/>
        </p:nvSpPr>
        <p:spPr>
          <a:xfrm>
            <a:off x="4539996" y="2331720"/>
            <a:ext cx="3154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Delayed or missed findings affect patient outcomes.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scan often shows several diseases at once.</a:t>
            </a:r>
            <a:endParaRPr lang="en-US" sz="1400" dirty="0"/>
          </a:p>
        </p:txBody>
      </p:sp>
      <p:sp>
        <p:nvSpPr>
          <p:cNvPr id="14" name="card-53"/>
          <p:cNvSpPr/>
          <p:nvPr/>
        </p:nvSpPr>
        <p:spPr>
          <a:xfrm>
            <a:off x="8074152" y="160020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5" name="badge-54"/>
          <p:cNvSpPr/>
          <p:nvPr/>
        </p:nvSpPr>
        <p:spPr>
          <a:xfrm>
            <a:off x="8302752" y="1783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-55"/>
          <p:cNvSpPr txBox="1"/>
          <p:nvPr/>
        </p:nvSpPr>
        <p:spPr>
          <a:xfrm>
            <a:off x="830275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56"/>
          <p:cNvSpPr txBox="1"/>
          <p:nvPr/>
        </p:nvSpPr>
        <p:spPr>
          <a:xfrm>
            <a:off x="8805672" y="1783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matter?</a:t>
            </a:r>
            <a:endParaRPr lang="en-US" sz="1800" dirty="0"/>
          </a:p>
        </p:txBody>
      </p:sp>
      <p:sp>
        <p:nvSpPr>
          <p:cNvPr id="18" name="text-57"/>
          <p:cNvSpPr txBox="1"/>
          <p:nvPr/>
        </p:nvSpPr>
        <p:spPr>
          <a:xfrm>
            <a:off x="8302752" y="2331720"/>
            <a:ext cx="3154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Prioritises urgent scans and highlights regions (Grad-CAM).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Tests fairly if QML competes with classical models.</a:t>
            </a:r>
            <a:endParaRPr lang="en-US" sz="1400" dirty="0"/>
          </a:p>
        </p:txBody>
      </p:sp>
      <p:sp>
        <p:nvSpPr>
          <p:cNvPr id="19" name="stat-band-58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20" name="text-59"/>
          <p:cNvSpPr txBox="1"/>
          <p:nvPr/>
        </p:nvSpPr>
        <p:spPr>
          <a:xfrm>
            <a:off x="822960" y="5230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150,528 → 4</a:t>
            </a:r>
            <a:endParaRPr lang="en-US" sz="3000" dirty="0"/>
          </a:p>
        </p:txBody>
      </p:sp>
      <p:sp>
        <p:nvSpPr>
          <p:cNvPr id="21" name="text-60"/>
          <p:cNvSpPr txBox="1"/>
          <p:nvPr/>
        </p:nvSpPr>
        <p:spPr>
          <a:xfrm>
            <a:off x="822960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raw pixel values compressed to qubit angles</a:t>
            </a:r>
            <a:endParaRPr lang="en-US" sz="1400" dirty="0"/>
          </a:p>
        </p:txBody>
      </p:sp>
      <p:sp>
        <p:nvSpPr>
          <p:cNvPr id="22" name="text-61"/>
          <p:cNvSpPr txBox="1"/>
          <p:nvPr/>
        </p:nvSpPr>
        <p:spPr>
          <a:xfrm>
            <a:off x="4517136" y="5230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23" name="text-62"/>
          <p:cNvSpPr txBox="1"/>
          <p:nvPr/>
        </p:nvSpPr>
        <p:spPr>
          <a:xfrm>
            <a:off x="4517136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thoracic findings detected per scan</a:t>
            </a:r>
            <a:endParaRPr lang="en-US" sz="1400" dirty="0"/>
          </a:p>
        </p:txBody>
      </p:sp>
      <p:sp>
        <p:nvSpPr>
          <p:cNvPr id="24" name="text-63"/>
          <p:cNvSpPr txBox="1"/>
          <p:nvPr/>
        </p:nvSpPr>
        <p:spPr>
          <a:xfrm>
            <a:off x="8211312" y="5230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000" dirty="0"/>
          </a:p>
        </p:txBody>
      </p:sp>
      <p:sp>
        <p:nvSpPr>
          <p:cNvPr id="25" name="text-64"/>
          <p:cNvSpPr txBox="1"/>
          <p:nvPr/>
        </p:nvSpPr>
        <p:spPr>
          <a:xfrm>
            <a:off x="8211312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trainable parameters in the quantum model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How the problem is solved, the approach followed and the algorithm used</a:t>
            </a:r>
            <a:endParaRPr lang="en-US" sz="1600" dirty="0"/>
          </a:p>
        </p:txBody>
      </p:sp>
      <p:sp>
        <p:nvSpPr>
          <p:cNvPr id="4" name="card-65"/>
          <p:cNvSpPr/>
          <p:nvPr/>
        </p:nvSpPr>
        <p:spPr>
          <a:xfrm>
            <a:off x="548640" y="1600200"/>
            <a:ext cx="68580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badge-66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67"/>
          <p:cNvSpPr txBox="1"/>
          <p:nvPr/>
        </p:nvSpPr>
        <p:spPr>
          <a:xfrm>
            <a:off x="7772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68"/>
          <p:cNvSpPr txBox="1"/>
          <p:nvPr/>
        </p:nvSpPr>
        <p:spPr>
          <a:xfrm>
            <a:off x="1371600" y="1755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solve it</a:t>
            </a:r>
            <a:endParaRPr lang="en-US" sz="1800" dirty="0"/>
          </a:p>
        </p:txBody>
      </p:sp>
      <p:sp>
        <p:nvSpPr>
          <p:cNvPr id="8" name="text-69"/>
          <p:cNvSpPr txBox="1"/>
          <p:nvPr/>
        </p:nvSpPr>
        <p:spPr>
          <a:xfrm>
            <a:off x="1371600" y="2167128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Compress each X-ray to 4 numbers, then classify with a 4-qubit circuit.</a:t>
            </a:r>
            <a:endParaRPr lang="en-US" sz="1400" dirty="0"/>
          </a:p>
        </p:txBody>
      </p:sp>
      <p:sp>
        <p:nvSpPr>
          <p:cNvPr id="9" name="card-70"/>
          <p:cNvSpPr/>
          <p:nvPr/>
        </p:nvSpPr>
        <p:spPr>
          <a:xfrm>
            <a:off x="548640" y="3172968"/>
            <a:ext cx="68580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badge-71"/>
          <p:cNvSpPr/>
          <p:nvPr/>
        </p:nvSpPr>
        <p:spPr>
          <a:xfrm>
            <a:off x="777240" y="33558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-72"/>
          <p:cNvSpPr txBox="1"/>
          <p:nvPr/>
        </p:nvSpPr>
        <p:spPr>
          <a:xfrm>
            <a:off x="77724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73"/>
          <p:cNvSpPr txBox="1"/>
          <p:nvPr/>
        </p:nvSpPr>
        <p:spPr>
          <a:xfrm>
            <a:off x="1371600" y="33284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3" name="text-74"/>
          <p:cNvSpPr txBox="1"/>
          <p:nvPr/>
        </p:nvSpPr>
        <p:spPr>
          <a:xfrm>
            <a:off x="1371600" y="3739896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Hybrid pipeline: ResNet-18 → PCA → VQC.</a:t>
            </a:r>
            <a:endParaRPr lang="en-US" sz="1400" dirty="0"/>
          </a:p>
        </p:txBody>
      </p:sp>
      <p:sp>
        <p:nvSpPr>
          <p:cNvPr id="14" name="card-75"/>
          <p:cNvSpPr/>
          <p:nvPr/>
        </p:nvSpPr>
        <p:spPr>
          <a:xfrm>
            <a:off x="548640" y="4745736"/>
            <a:ext cx="68580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badge-76"/>
          <p:cNvSpPr/>
          <p:nvPr/>
        </p:nvSpPr>
        <p:spPr>
          <a:xfrm>
            <a:off x="777240" y="4928616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-77"/>
          <p:cNvSpPr txBox="1"/>
          <p:nvPr/>
        </p:nvSpPr>
        <p:spPr>
          <a:xfrm>
            <a:off x="777240" y="4928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78"/>
          <p:cNvSpPr txBox="1"/>
          <p:nvPr/>
        </p:nvSpPr>
        <p:spPr>
          <a:xfrm>
            <a:off x="1371600" y="4901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800" dirty="0"/>
          </a:p>
        </p:txBody>
      </p:sp>
      <p:sp>
        <p:nvSpPr>
          <p:cNvPr id="18" name="text-79"/>
          <p:cNvSpPr txBox="1"/>
          <p:nvPr/>
        </p:nvSpPr>
        <p:spPr>
          <a:xfrm>
            <a:off x="1371600" y="5312664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Variational Quantum Classifier (VQC).</a:t>
            </a:r>
            <a:endParaRPr lang="en-US" sz="1400" dirty="0"/>
          </a:p>
        </p:txBody>
      </p:sp>
      <p:sp>
        <p:nvSpPr>
          <p:cNvPr id="19" name="obj-card-80"/>
          <p:cNvSpPr/>
          <p:nvPr/>
        </p:nvSpPr>
        <p:spPr>
          <a:xfrm>
            <a:off x="7635240" y="1600200"/>
            <a:ext cx="4005072" cy="4663440"/>
          </a:xfrm>
          <a:prstGeom prst="roundRect">
            <a:avLst>
              <a:gd name="adj" fmla="val 2740"/>
            </a:avLst>
          </a:prstGeom>
          <a:solidFill>
            <a:schemeClr val="tx1"/>
          </a:solidFill>
          <a:ln/>
        </p:spPr>
      </p:sp>
      <p:sp>
        <p:nvSpPr>
          <p:cNvPr id="20" name="text-81"/>
          <p:cNvSpPr txBox="1"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21" name="badge-82"/>
          <p:cNvSpPr/>
          <p:nvPr/>
        </p:nvSpPr>
        <p:spPr>
          <a:xfrm>
            <a:off x="7909560" y="23774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-83"/>
          <p:cNvSpPr txBox="1"/>
          <p:nvPr/>
        </p:nvSpPr>
        <p:spPr>
          <a:xfrm>
            <a:off x="79095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-84"/>
          <p:cNvSpPr txBox="1"/>
          <p:nvPr/>
        </p:nvSpPr>
        <p:spPr>
          <a:xfrm>
            <a:off x="8412480" y="234086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Detect 8 thoracic findings (multi-label).</a:t>
            </a:r>
            <a:endParaRPr lang="en-US" sz="1400" dirty="0"/>
          </a:p>
        </p:txBody>
      </p:sp>
      <p:sp>
        <p:nvSpPr>
          <p:cNvPr id="24" name="badge-85"/>
          <p:cNvSpPr/>
          <p:nvPr/>
        </p:nvSpPr>
        <p:spPr>
          <a:xfrm>
            <a:off x="7909560" y="33375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-86"/>
          <p:cNvSpPr txBox="1"/>
          <p:nvPr/>
        </p:nvSpPr>
        <p:spPr>
          <a:xfrm>
            <a:off x="790956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-87"/>
          <p:cNvSpPr txBox="1"/>
          <p:nvPr/>
        </p:nvSpPr>
        <p:spPr>
          <a:xfrm>
            <a:off x="8412480" y="330098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Compare with classical baselines.</a:t>
            </a:r>
            <a:endParaRPr lang="en-US" sz="1400" dirty="0"/>
          </a:p>
        </p:txBody>
      </p:sp>
      <p:sp>
        <p:nvSpPr>
          <p:cNvPr id="27" name="badge-88"/>
          <p:cNvSpPr/>
          <p:nvPr/>
        </p:nvSpPr>
        <p:spPr>
          <a:xfrm>
            <a:off x="7909560" y="42976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-89"/>
          <p:cNvSpPr txBox="1"/>
          <p:nvPr/>
        </p:nvSpPr>
        <p:spPr>
          <a:xfrm>
            <a:off x="790956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-90"/>
          <p:cNvSpPr txBox="1"/>
          <p:nvPr/>
        </p:nvSpPr>
        <p:spPr>
          <a:xfrm>
            <a:off x="8412480" y="426110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Keep Normal-vs-Pneumonia triage.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Algorithm: Introduction &amp; Steps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Algorithm 1 of 3: overview and step-by-step process</a:t>
            </a:r>
            <a:endParaRPr lang="en-US" sz="1600" dirty="0"/>
          </a:p>
        </p:txBody>
      </p:sp>
      <p:sp>
        <p:nvSpPr>
          <p:cNvPr id="4" name="banner-91"/>
          <p:cNvSpPr/>
          <p:nvPr/>
        </p:nvSpPr>
        <p:spPr>
          <a:xfrm>
            <a:off x="548640" y="160020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5" name="text-92"/>
          <p:cNvSpPr txBox="1"/>
          <p:nvPr/>
        </p:nvSpPr>
        <p:spPr>
          <a:xfrm>
            <a:off x="822960" y="1709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DD3FC"/>
                </a:solidFill>
              </a:rPr>
              <a:t>ALGORITHM NAME</a:t>
            </a:r>
            <a:endParaRPr lang="en-US" sz="1100" dirty="0"/>
          </a:p>
        </p:txBody>
      </p:sp>
      <p:sp>
        <p:nvSpPr>
          <p:cNvPr id="6" name="text-93"/>
          <p:cNvSpPr txBox="1"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Variational Quantum Classifier (VQC) with Multi-Observable Readout</a:t>
            </a:r>
            <a:endParaRPr lang="en-US" sz="2100" dirty="0"/>
          </a:p>
        </p:txBody>
      </p:sp>
      <p:sp>
        <p:nvSpPr>
          <p:cNvPr id="7" name="card-94"/>
          <p:cNvSpPr/>
          <p:nvPr/>
        </p:nvSpPr>
        <p:spPr>
          <a:xfrm>
            <a:off x="548640" y="2697480"/>
            <a:ext cx="38404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-95"/>
          <p:cNvSpPr txBox="1"/>
          <p:nvPr/>
        </p:nvSpPr>
        <p:spPr>
          <a:xfrm>
            <a:off x="77724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VQC?</a:t>
            </a:r>
            <a:endParaRPr lang="en-US" sz="1800" dirty="0"/>
          </a:p>
        </p:txBody>
      </p:sp>
      <p:sp>
        <p:nvSpPr>
          <p:cNvPr id="9" name="text-96"/>
          <p:cNvSpPr txBox="1"/>
          <p:nvPr/>
        </p:nvSpPr>
        <p:spPr>
          <a:xfrm>
            <a:off x="77724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quantum circuit with trainable angles.</a:t>
            </a:r>
            <a:endParaRPr lang="en-US" sz="1400" dirty="0"/>
          </a:p>
        </p:txBody>
      </p:sp>
      <p:sp>
        <p:nvSpPr>
          <p:cNvPr id="10" name="text-97"/>
          <p:cNvSpPr txBox="1"/>
          <p:nvPr/>
        </p:nvSpPr>
        <p:spPr>
          <a:xfrm>
            <a:off x="777240" y="4251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Features become angles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CNOT gates entangle qubits</a:t>
            </a:r>
            <a:endParaRPr lang="en-US" sz="1400" dirty="0"/>
          </a:p>
        </p:txBody>
      </p:sp>
      <p:sp>
        <p:nvSpPr>
          <p:cNvPr id="11" name="card-98"/>
          <p:cNvSpPr/>
          <p:nvPr/>
        </p:nvSpPr>
        <p:spPr>
          <a:xfrm>
            <a:off x="4572000" y="2697480"/>
            <a:ext cx="3447288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2" name="badge-99"/>
          <p:cNvSpPr/>
          <p:nvPr/>
        </p:nvSpPr>
        <p:spPr>
          <a:xfrm>
            <a:off x="4709160" y="2834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-100"/>
          <p:cNvSpPr txBox="1"/>
          <p:nvPr/>
        </p:nvSpPr>
        <p:spPr>
          <a:xfrm>
            <a:off x="47091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-101"/>
          <p:cNvSpPr txBox="1"/>
          <p:nvPr/>
        </p:nvSpPr>
        <p:spPr>
          <a:xfrm>
            <a:off x="5212080" y="27889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Preprocess</a:t>
            </a:r>
            <a:endParaRPr lang="en-US" sz="1400" dirty="0"/>
          </a:p>
        </p:txBody>
      </p:sp>
      <p:sp>
        <p:nvSpPr>
          <p:cNvPr id="15" name="text-102"/>
          <p:cNvSpPr txBox="1"/>
          <p:nvPr/>
        </p:nvSpPr>
        <p:spPr>
          <a:xfrm>
            <a:off x="5212080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CLAHE contrast + normalisation</a:t>
            </a:r>
            <a:endParaRPr lang="en-US" sz="1300" dirty="0"/>
          </a:p>
        </p:txBody>
      </p:sp>
      <p:sp>
        <p:nvSpPr>
          <p:cNvPr id="16" name="card-103"/>
          <p:cNvSpPr/>
          <p:nvPr/>
        </p:nvSpPr>
        <p:spPr>
          <a:xfrm>
            <a:off x="8193024" y="2697480"/>
            <a:ext cx="3447288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7" name="badge-104"/>
          <p:cNvSpPr/>
          <p:nvPr/>
        </p:nvSpPr>
        <p:spPr>
          <a:xfrm>
            <a:off x="8330184" y="2834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-105"/>
          <p:cNvSpPr txBox="1"/>
          <p:nvPr/>
        </p:nvSpPr>
        <p:spPr>
          <a:xfrm>
            <a:off x="833018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-106"/>
          <p:cNvSpPr txBox="1"/>
          <p:nvPr/>
        </p:nvSpPr>
        <p:spPr>
          <a:xfrm>
            <a:off x="8833104" y="27889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 features</a:t>
            </a:r>
            <a:endParaRPr lang="en-US" sz="1400" dirty="0"/>
          </a:p>
        </p:txBody>
      </p:sp>
      <p:sp>
        <p:nvSpPr>
          <p:cNvPr id="20" name="text-107"/>
          <p:cNvSpPr txBox="1"/>
          <p:nvPr/>
        </p:nvSpPr>
        <p:spPr>
          <a:xfrm>
            <a:off x="8833104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ResNet-18 gives 512 features</a:t>
            </a:r>
            <a:endParaRPr lang="en-US" sz="1300" dirty="0"/>
          </a:p>
        </p:txBody>
      </p:sp>
      <p:sp>
        <p:nvSpPr>
          <p:cNvPr id="21" name="card-108"/>
          <p:cNvSpPr/>
          <p:nvPr/>
        </p:nvSpPr>
        <p:spPr>
          <a:xfrm>
            <a:off x="4572000" y="3941064"/>
            <a:ext cx="3447288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22" name="badge-109"/>
          <p:cNvSpPr/>
          <p:nvPr/>
        </p:nvSpPr>
        <p:spPr>
          <a:xfrm>
            <a:off x="4709160" y="40782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-110"/>
          <p:cNvSpPr txBox="1"/>
          <p:nvPr/>
        </p:nvSpPr>
        <p:spPr>
          <a:xfrm>
            <a:off x="470916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-111"/>
          <p:cNvSpPr txBox="1"/>
          <p:nvPr/>
        </p:nvSpPr>
        <p:spPr>
          <a:xfrm>
            <a:off x="5212080" y="4032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Compress</a:t>
            </a:r>
            <a:endParaRPr lang="en-US" sz="1400" dirty="0"/>
          </a:p>
        </p:txBody>
      </p:sp>
      <p:sp>
        <p:nvSpPr>
          <p:cNvPr id="25" name="text-112"/>
          <p:cNvSpPr txBox="1"/>
          <p:nvPr/>
        </p:nvSpPr>
        <p:spPr>
          <a:xfrm>
            <a:off x="5212080" y="435254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PCA reduces 512 to 4 angles</a:t>
            </a:r>
            <a:endParaRPr lang="en-US" sz="1300" dirty="0"/>
          </a:p>
        </p:txBody>
      </p:sp>
      <p:sp>
        <p:nvSpPr>
          <p:cNvPr id="26" name="card-113"/>
          <p:cNvSpPr/>
          <p:nvPr/>
        </p:nvSpPr>
        <p:spPr>
          <a:xfrm>
            <a:off x="8193024" y="3941064"/>
            <a:ext cx="3447288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27" name="badge-114"/>
          <p:cNvSpPr/>
          <p:nvPr/>
        </p:nvSpPr>
        <p:spPr>
          <a:xfrm>
            <a:off x="8330184" y="4078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-115"/>
          <p:cNvSpPr txBox="1"/>
          <p:nvPr/>
        </p:nvSpPr>
        <p:spPr>
          <a:xfrm>
            <a:off x="8330184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-116"/>
          <p:cNvSpPr txBox="1"/>
          <p:nvPr/>
        </p:nvSpPr>
        <p:spPr>
          <a:xfrm>
            <a:off x="8833104" y="4032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Encode</a:t>
            </a:r>
            <a:endParaRPr lang="en-US" sz="1400" dirty="0"/>
          </a:p>
        </p:txBody>
      </p:sp>
      <p:sp>
        <p:nvSpPr>
          <p:cNvPr id="30" name="text-117"/>
          <p:cNvSpPr txBox="1"/>
          <p:nvPr/>
        </p:nvSpPr>
        <p:spPr>
          <a:xfrm>
            <a:off x="8833104" y="435254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RY rotation on each of 4 qubits</a:t>
            </a:r>
            <a:endParaRPr lang="en-US" sz="1300" dirty="0"/>
          </a:p>
        </p:txBody>
      </p:sp>
      <p:sp>
        <p:nvSpPr>
          <p:cNvPr id="31" name="card-118"/>
          <p:cNvSpPr/>
          <p:nvPr/>
        </p:nvSpPr>
        <p:spPr>
          <a:xfrm>
            <a:off x="4572000" y="5184648"/>
            <a:ext cx="3447288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32" name="badge-119"/>
          <p:cNvSpPr/>
          <p:nvPr/>
        </p:nvSpPr>
        <p:spPr>
          <a:xfrm>
            <a:off x="4709160" y="53218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-120"/>
          <p:cNvSpPr txBox="1"/>
          <p:nvPr/>
        </p:nvSpPr>
        <p:spPr>
          <a:xfrm>
            <a:off x="4709160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-121"/>
          <p:cNvSpPr txBox="1"/>
          <p:nvPr/>
        </p:nvSpPr>
        <p:spPr>
          <a:xfrm>
            <a:off x="5212080" y="52760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Entangle &amp; train</a:t>
            </a:r>
            <a:endParaRPr lang="en-US" sz="1400" dirty="0"/>
          </a:p>
        </p:txBody>
      </p:sp>
      <p:sp>
        <p:nvSpPr>
          <p:cNvPr id="35" name="text-122"/>
          <p:cNvSpPr txBox="1"/>
          <p:nvPr/>
        </p:nvSpPr>
        <p:spPr>
          <a:xfrm>
            <a:off x="5212080" y="55961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2 layers of RY/RZ + CNOT ladder</a:t>
            </a:r>
            <a:endParaRPr lang="en-US" sz="1300" dirty="0"/>
          </a:p>
        </p:txBody>
      </p:sp>
      <p:sp>
        <p:nvSpPr>
          <p:cNvPr id="36" name="card-123"/>
          <p:cNvSpPr/>
          <p:nvPr/>
        </p:nvSpPr>
        <p:spPr>
          <a:xfrm>
            <a:off x="8193024" y="5184648"/>
            <a:ext cx="3447288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37" name="badge-124"/>
          <p:cNvSpPr/>
          <p:nvPr/>
        </p:nvSpPr>
        <p:spPr>
          <a:xfrm>
            <a:off x="8330184" y="53218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-125"/>
          <p:cNvSpPr txBox="1"/>
          <p:nvPr/>
        </p:nvSpPr>
        <p:spPr>
          <a:xfrm>
            <a:off x="8330184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-126"/>
          <p:cNvSpPr txBox="1"/>
          <p:nvPr/>
        </p:nvSpPr>
        <p:spPr>
          <a:xfrm>
            <a:off x="8833104" y="52760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Measure &amp; classify</a:t>
            </a:r>
            <a:endParaRPr lang="en-US" sz="1400" dirty="0"/>
          </a:p>
        </p:txBody>
      </p:sp>
      <p:sp>
        <p:nvSpPr>
          <p:cNvPr id="40" name="text-127"/>
          <p:cNvSpPr txBox="1"/>
          <p:nvPr/>
        </p:nvSpPr>
        <p:spPr>
          <a:xfrm>
            <a:off x="8833104" y="55961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Read ⟨Z⟩ values → 8 probabilities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Algorithm: Flowchart &amp; Circuit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Algorithm 2 of 3: data flow and the 4-qubit quantum circuit</a:t>
            </a:r>
            <a:endParaRPr lang="en-US" sz="1600" dirty="0"/>
          </a:p>
        </p:txBody>
      </p:sp>
      <p:sp>
        <p:nvSpPr>
          <p:cNvPr id="4" name="flow-node-128"/>
          <p:cNvSpPr/>
          <p:nvPr/>
        </p:nvSpPr>
        <p:spPr>
          <a:xfrm>
            <a:off x="502920" y="1600200"/>
            <a:ext cx="265176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/>
        </p:spPr>
      </p:sp>
      <p:sp>
        <p:nvSpPr>
          <p:cNvPr id="5" name="text-129"/>
          <p:cNvSpPr txBox="1"/>
          <p:nvPr/>
        </p:nvSpPr>
        <p:spPr>
          <a:xfrm>
            <a:off x="54864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Chest X-ray (224×224)</a:t>
            </a:r>
            <a:endParaRPr lang="en-US" sz="1200" dirty="0"/>
          </a:p>
        </p:txBody>
      </p:sp>
      <p:sp>
        <p:nvSpPr>
          <p:cNvPr id="6" name="flow-arrow-130"/>
          <p:cNvSpPr/>
          <p:nvPr/>
        </p:nvSpPr>
        <p:spPr>
          <a:xfrm>
            <a:off x="1828800" y="2103120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low-node-131"/>
          <p:cNvSpPr/>
          <p:nvPr/>
        </p:nvSpPr>
        <p:spPr>
          <a:xfrm>
            <a:off x="502920" y="2322576"/>
            <a:ext cx="265176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-132"/>
          <p:cNvSpPr txBox="1"/>
          <p:nvPr/>
        </p:nvSpPr>
        <p:spPr>
          <a:xfrm>
            <a:off x="548640" y="23225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CLAHE + z-score normalisation</a:t>
            </a:r>
            <a:endParaRPr lang="en-US" sz="1200" dirty="0"/>
          </a:p>
        </p:txBody>
      </p:sp>
      <p:sp>
        <p:nvSpPr>
          <p:cNvPr id="9" name="flow-arrow-133"/>
          <p:cNvSpPr/>
          <p:nvPr/>
        </p:nvSpPr>
        <p:spPr>
          <a:xfrm>
            <a:off x="1828800" y="2825496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flow-node-134"/>
          <p:cNvSpPr/>
          <p:nvPr/>
        </p:nvSpPr>
        <p:spPr>
          <a:xfrm>
            <a:off x="502920" y="3044952"/>
            <a:ext cx="265176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-135"/>
          <p:cNvSpPr txBox="1"/>
          <p:nvPr/>
        </p:nvSpPr>
        <p:spPr>
          <a:xfrm>
            <a:off x="548640" y="3044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ResNet-18 → 512-d features</a:t>
            </a:r>
            <a:endParaRPr lang="en-US" sz="1200" dirty="0"/>
          </a:p>
        </p:txBody>
      </p:sp>
      <p:sp>
        <p:nvSpPr>
          <p:cNvPr id="12" name="flow-arrow-136"/>
          <p:cNvSpPr/>
          <p:nvPr/>
        </p:nvSpPr>
        <p:spPr>
          <a:xfrm>
            <a:off x="1828800" y="3547872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flow-node-137"/>
          <p:cNvSpPr/>
          <p:nvPr/>
        </p:nvSpPr>
        <p:spPr>
          <a:xfrm>
            <a:off x="502920" y="3767328"/>
            <a:ext cx="265176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-138"/>
          <p:cNvSpPr txBox="1"/>
          <p:nvPr/>
        </p:nvSpPr>
        <p:spPr>
          <a:xfrm>
            <a:off x="548640" y="3767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PCA → 4 angles in [0, π]</a:t>
            </a:r>
            <a:endParaRPr lang="en-US" sz="1200" dirty="0"/>
          </a:p>
        </p:txBody>
      </p:sp>
      <p:sp>
        <p:nvSpPr>
          <p:cNvPr id="15" name="flow-arrow-139"/>
          <p:cNvSpPr/>
          <p:nvPr/>
        </p:nvSpPr>
        <p:spPr>
          <a:xfrm>
            <a:off x="1828800" y="4270248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flow-node-140"/>
          <p:cNvSpPr/>
          <p:nvPr/>
        </p:nvSpPr>
        <p:spPr>
          <a:xfrm>
            <a:off x="502920" y="4489704"/>
            <a:ext cx="2651760" cy="640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-141"/>
          <p:cNvSpPr txBox="1"/>
          <p:nvPr/>
        </p:nvSpPr>
        <p:spPr>
          <a:xfrm>
            <a:off x="548640" y="44897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4-qubit VQC → ⟨Z₀…Z₃⟩ → sigmoid head</a:t>
            </a:r>
            <a:endParaRPr lang="en-US" sz="1200" dirty="0"/>
          </a:p>
        </p:txBody>
      </p:sp>
      <p:sp>
        <p:nvSpPr>
          <p:cNvPr id="18" name="flow-arrow-142"/>
          <p:cNvSpPr/>
          <p:nvPr/>
        </p:nvSpPr>
        <p:spPr>
          <a:xfrm>
            <a:off x="1828800" y="5129784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low-node-143"/>
          <p:cNvSpPr/>
          <p:nvPr/>
        </p:nvSpPr>
        <p:spPr>
          <a:xfrm>
            <a:off x="914400" y="5349240"/>
            <a:ext cx="1828800" cy="868680"/>
          </a:xfrm>
          <a:prstGeom prst="diamond">
            <a:avLst>
              <a:gd name="adj" fmla="val 28421"/>
            </a:avLst>
          </a:prstGeom>
          <a:solidFill>
            <a:schemeClr val="accent4"/>
          </a:solidFill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81819B-0797-B838-D799-72B52FF42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834" y="1380744"/>
            <a:ext cx="7820766" cy="51286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Algorithm: Pseudocode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Algorithm 3 of 3: training loop and quantum forward pass</a:t>
            </a:r>
            <a:endParaRPr lang="en-US" sz="1600" dirty="0"/>
          </a:p>
        </p:txBody>
      </p:sp>
      <p:sp>
        <p:nvSpPr>
          <p:cNvPr id="4" name="code-panel-223"/>
          <p:cNvSpPr/>
          <p:nvPr/>
        </p:nvSpPr>
        <p:spPr>
          <a:xfrm>
            <a:off x="548640" y="1600200"/>
            <a:ext cx="5760720" cy="393192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5" name="text-224"/>
          <p:cNvSpPr txBox="1"/>
          <p:nvPr/>
        </p:nvSpPr>
        <p:spPr>
          <a:xfrm>
            <a:off x="777240" y="1709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</a:rPr>
              <a:t>Training</a:t>
            </a:r>
            <a:endParaRPr lang="en-US" sz="1300" dirty="0"/>
          </a:p>
        </p:txBody>
      </p:sp>
      <p:sp>
        <p:nvSpPr>
          <p:cNvPr id="6" name="text-225"/>
          <p:cNvSpPr txBox="1"/>
          <p:nvPr/>
        </p:nvSpPr>
        <p:spPr>
          <a:xfrm>
            <a:off x="777240" y="205740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HybridVQC_Train(Images, Labels, Epochs)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Fit PCA on ResNet-18 training features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Initialise θ, φ ∈ [0, 2π]; W, b randomly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= 1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Epochs: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mini-batch (x, y):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f ← ResNet18(CLAHE(x))   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512-d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a ← π · MinMax(PCA(f))   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angles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e ← VQC(a, θ, φ)         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⟨Z⟩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p ← sigmoid(W·e + b)     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 labels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L ← BCE(p, y)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∇θ,φ ← ParameterShift(L)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update θ, φ, W, b (optimizer step)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θ, φ, W, b</a:t>
            </a:r>
            <a:endParaRPr lang="en-US" sz="1300" dirty="0"/>
          </a:p>
        </p:txBody>
      </p:sp>
      <p:sp>
        <p:nvSpPr>
          <p:cNvPr id="7" name="code-panel-226"/>
          <p:cNvSpPr/>
          <p:nvPr/>
        </p:nvSpPr>
        <p:spPr>
          <a:xfrm>
            <a:off x="6492240" y="1600200"/>
            <a:ext cx="5148072" cy="393192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8" name="text-227"/>
          <p:cNvSpPr txBox="1"/>
          <p:nvPr/>
        </p:nvSpPr>
        <p:spPr>
          <a:xfrm>
            <a:off x="6720840" y="170992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</a:rPr>
              <a:t>Quantum forward pass</a:t>
            </a:r>
            <a:endParaRPr lang="en-US" sz="1300" dirty="0"/>
          </a:p>
        </p:txBody>
      </p:sp>
      <p:sp>
        <p:nvSpPr>
          <p:cNvPr id="9" name="text-228"/>
          <p:cNvSpPr txBox="1"/>
          <p:nvPr/>
        </p:nvSpPr>
        <p:spPr>
          <a:xfrm>
            <a:off x="6720840" y="2057400"/>
            <a:ext cx="46908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VQC(a[0..3], θ[2][4], φ[2][4])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← |0000⟩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0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3:        </a:t>
            </a: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encode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RY(a[i]) on qubit i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 = 0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1:        </a:t>
            </a: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layers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0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3: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RY(θ[l][i]) on qubit i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RZ(φ[l][i]) on qubit i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0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3:      </a:t>
            </a: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entangle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CNOT(i, (i+1) mod 4)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[⟨Z_i⟩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0 </a:t>
            </a:r>
            <a:r>
              <a:rPr lang="en-US" sz="14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3]</a:t>
            </a:r>
            <a:endParaRPr lang="en-US" sz="1400" dirty="0"/>
          </a:p>
        </p:txBody>
      </p:sp>
      <p:sp>
        <p:nvSpPr>
          <p:cNvPr id="10" name="card-229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1" name="text-230"/>
          <p:cNvSpPr txBox="1"/>
          <p:nvPr/>
        </p:nvSpPr>
        <p:spPr>
          <a:xfrm>
            <a:off x="77724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Gradient rule: </a:t>
            </a:r>
            <a:r>
              <a:rPr lang="en-US" sz="1400" dirty="0">
                <a:solidFill>
                  <a:schemeClr val="tx1"/>
                </a:solidFill>
              </a:rPr>
              <a:t>parameter-shift (2 shifted circuit runs per parameter).   </a:t>
            </a:r>
            <a:r>
              <a:rPr lang="en-US" sz="1400" b="1" dirty="0">
                <a:solidFill>
                  <a:schemeClr val="tx1"/>
                </a:solidFill>
              </a:rPr>
              <a:t>Decision: </a:t>
            </a:r>
            <a:r>
              <a:rPr lang="en-US" sz="1400" dirty="0">
                <a:solidFill>
                  <a:schemeClr val="tx1"/>
                </a:solidFill>
              </a:rPr>
              <a:t>≥ 50% Detected, 25–49%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Complexity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Classical preprocessing versus quantum circuit execution and simulation</a:t>
            </a:r>
            <a:endParaRPr lang="en-US" sz="1600" dirty="0"/>
          </a:p>
        </p:txBody>
      </p:sp>
      <p:graphicFrame>
        <p:nvGraphicFramePr>
          <p:cNvPr id="8" name="complexity-table-2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9443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Pipeline stage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Space complexity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Image preprocessing (CLAHE)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O(H · W)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O(H · W)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Per-pixel tile histogram equalisation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CNN extractor (ResNet-18)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O(Σ K² Cₗ₋₁ Cₗ Hₗ Wₗ)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O(Σ Cₗ Hₗ Wₗ)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One forward convolution 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PCA reduction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O(d² N + d³)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O(d²)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Covariance SVD, 512 → 4 dims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VQC on a QPU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O(D · M) shots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O(n) qubits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D = 2, M = 1000 shots, n = 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Statevector simulation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O(G · 2ⁿ)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O(2ⁿ) amplitudes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Exponential on classical hardware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Parameter-shift training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O(2P · E · B · T_circ)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O(P) gradients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2 circuit runs per parameter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-232"/>
          <p:cNvSpPr/>
          <p:nvPr/>
        </p:nvSpPr>
        <p:spPr>
          <a:xfrm>
            <a:off x="548640" y="4754880"/>
            <a:ext cx="73152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-233"/>
          <p:cNvSpPr txBox="1"/>
          <p:nvPr/>
        </p:nvSpPr>
        <p:spPr>
          <a:xfrm>
            <a:off x="777240" y="4846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to read it. </a:t>
            </a:r>
            <a:r>
              <a:rPr lang="en-US" sz="1400" dirty="0">
                <a:solidFill>
                  <a:schemeClr val="tx1"/>
                </a:solidFill>
              </a:rPr>
              <a:t>The CNN dominates the cost; the quantum circuit is tiny (4 qubits, depth 2).</a:t>
            </a:r>
            <a:endParaRPr lang="en-US" sz="1400" dirty="0"/>
          </a:p>
        </p:txBody>
      </p:sp>
      <p:sp>
        <p:nvSpPr>
          <p:cNvPr id="7" name="stat-234"/>
          <p:cNvSpPr/>
          <p:nvPr/>
        </p:nvSpPr>
        <p:spPr>
          <a:xfrm>
            <a:off x="8092440" y="4754880"/>
            <a:ext cx="3547872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4" name="text-235"/>
          <p:cNvSpPr txBox="1"/>
          <p:nvPr/>
        </p:nvSpPr>
        <p:spPr>
          <a:xfrm>
            <a:off x="832104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600" dirty="0"/>
          </a:p>
        </p:txBody>
      </p:sp>
      <p:sp>
        <p:nvSpPr>
          <p:cNvPr id="9" name="text-236"/>
          <p:cNvSpPr txBox="1"/>
          <p:nvPr/>
        </p:nvSpPr>
        <p:spPr>
          <a:xfrm>
            <a:off x="832104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encoding depth; 32 gates in total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Python full-stack framework: PyTorch, PennyLane and FastAPI</a:t>
            </a:r>
            <a:endParaRPr lang="en-US" sz="1600" dirty="0"/>
          </a:p>
        </p:txBody>
      </p:sp>
      <p:sp>
        <p:nvSpPr>
          <p:cNvPr id="4" name="card-237"/>
          <p:cNvSpPr/>
          <p:nvPr/>
        </p:nvSpPr>
        <p:spPr>
          <a:xfrm>
            <a:off x="548640" y="1600200"/>
            <a:ext cx="3840480" cy="4663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-238"/>
          <p:cNvSpPr txBox="1"/>
          <p:nvPr/>
        </p:nvSpPr>
        <p:spPr>
          <a:xfrm>
            <a:off x="7772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tools</a:t>
            </a:r>
            <a:endParaRPr lang="en-US" sz="1800" dirty="0"/>
          </a:p>
        </p:txBody>
      </p:sp>
      <p:sp>
        <p:nvSpPr>
          <p:cNvPr id="6" name="text-239"/>
          <p:cNvSpPr txBox="1"/>
          <p:nvPr/>
        </p:nvSpPr>
        <p:spPr>
          <a:xfrm>
            <a:off x="777240" y="2240280"/>
            <a:ext cx="3383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Python 3: </a:t>
            </a:r>
            <a:r>
              <a:rPr lang="en-US" sz="1600" dirty="0">
                <a:solidFill>
                  <a:schemeClr val="tx1"/>
                </a:solidFill>
              </a:rPr>
              <a:t>core language.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PennyLane 0.45.1: </a:t>
            </a:r>
            <a:r>
              <a:rPr lang="en-US" sz="1600" dirty="0">
                <a:solidFill>
                  <a:schemeClr val="tx1"/>
                </a:solidFill>
              </a:rPr>
              <a:t>quantum simulator.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PyTorch 2.14: </a:t>
            </a:r>
            <a:r>
              <a:rPr lang="en-US" sz="1600" dirty="0">
                <a:solidFill>
                  <a:schemeClr val="tx1"/>
                </a:solidFill>
              </a:rPr>
              <a:t>ResNet-18, training.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scikit-learn: </a:t>
            </a:r>
            <a:r>
              <a:rPr lang="en-US" sz="1600" dirty="0">
                <a:solidFill>
                  <a:schemeClr val="tx1"/>
                </a:solidFill>
              </a:rPr>
              <a:t>PCA.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FastAPI: </a:t>
            </a:r>
            <a:r>
              <a:rPr lang="en-US" sz="1600" dirty="0">
                <a:solidFill>
                  <a:schemeClr val="tx1"/>
                </a:solidFill>
              </a:rPr>
              <a:t>REST backend.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Tailwind + Chart.js: </a:t>
            </a:r>
            <a:r>
              <a:rPr lang="en-US" sz="1600" dirty="0">
                <a:solidFill>
                  <a:schemeClr val="tx1"/>
                </a:solidFill>
              </a:rPr>
              <a:t>dashboard.</a:t>
            </a:r>
            <a:endParaRPr lang="en-US" sz="1600" dirty="0"/>
          </a:p>
        </p:txBody>
      </p:sp>
      <p:sp>
        <p:nvSpPr>
          <p:cNvPr id="7" name="code-panel-240"/>
          <p:cNvSpPr/>
          <p:nvPr/>
        </p:nvSpPr>
        <p:spPr>
          <a:xfrm>
            <a:off x="4572000" y="1600200"/>
            <a:ext cx="7068312" cy="3337560"/>
          </a:xfrm>
          <a:prstGeom prst="roundRect">
            <a:avLst>
              <a:gd name="adj" fmla="val 3288"/>
            </a:avLst>
          </a:prstGeom>
          <a:solidFill>
            <a:schemeClr val="tx1"/>
          </a:solidFill>
          <a:ln/>
        </p:spPr>
      </p:sp>
      <p:sp>
        <p:nvSpPr>
          <p:cNvPr id="8" name="text-241"/>
          <p:cNvSpPr txBox="1"/>
          <p:nvPr/>
        </p:nvSpPr>
        <p:spPr>
          <a:xfrm>
            <a:off x="4800600" y="1709928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</a:rPr>
              <a:t>Multi-observable QNode (PennyLane)</a:t>
            </a:r>
            <a:endParaRPr lang="en-US" sz="1300" dirty="0"/>
          </a:p>
        </p:txBody>
      </p:sp>
      <p:sp>
        <p:nvSpPr>
          <p:cNvPr id="9" name="text-242"/>
          <p:cNvSpPr txBox="1"/>
          <p:nvPr/>
        </p:nvSpPr>
        <p:spPr>
          <a:xfrm>
            <a:off x="4800600" y="2057400"/>
            <a:ext cx="66111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@qml.qnode(dev, interface='torch', diff_method='parameter-shift')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circuit(inputs, weights):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(n_qubits):          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encode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qml.RY(inputs[i], wires=i)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(n_layers):          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layers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(n_qubits):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qml.RY(weights[l, i, 0], wires=i)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qml.RZ(weights[l, i, 1], wires=i)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(n_qubits):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qml.CNOT(wires=[i, (i + 1) % n_qubits])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[qml.expval(qml.PauliZ(i))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(n_qubits)]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linear_head(torch.stack(expvals))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 = torch.sigmoid(logits)</a:t>
            </a:r>
            <a:endParaRPr lang="en-US" sz="1300" dirty="0"/>
          </a:p>
        </p:txBody>
      </p:sp>
      <p:sp>
        <p:nvSpPr>
          <p:cNvPr id="10" name="card-243"/>
          <p:cNvSpPr/>
          <p:nvPr/>
        </p:nvSpPr>
        <p:spPr>
          <a:xfrm>
            <a:off x="4572000" y="5120640"/>
            <a:ext cx="706831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1" name="text-244"/>
          <p:cNvSpPr txBox="1"/>
          <p:nvPr/>
        </p:nvSpPr>
        <p:spPr>
          <a:xfrm>
            <a:off x="4800600" y="5193792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it works. </a:t>
            </a:r>
            <a:r>
              <a:rPr lang="en-US" sz="1400" dirty="0">
                <a:solidFill>
                  <a:schemeClr val="tx1"/>
                </a:solidFill>
              </a:rPr>
              <a:t>Encode 4 features, apply 2 layers, read 4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&amp; Analysis: Multi-Disease Findings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NIH ChestX-ray14 held-out test set, 8 thoracic findings</a:t>
            </a:r>
            <a:endParaRPr lang="en-US" sz="1600" dirty="0"/>
          </a:p>
        </p:txBody>
      </p:sp>
      <p:sp>
        <p:nvSpPr>
          <p:cNvPr id="4" name="card-245"/>
          <p:cNvSpPr/>
          <p:nvPr/>
        </p:nvSpPr>
        <p:spPr>
          <a:xfrm>
            <a:off x="548640" y="16002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-246"/>
          <p:cNvSpPr txBox="1"/>
          <p:nvPr/>
        </p:nvSpPr>
        <p:spPr>
          <a:xfrm>
            <a:off x="7772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-247"/>
          <p:cNvSpPr txBox="1"/>
          <p:nvPr/>
        </p:nvSpPr>
        <p:spPr>
          <a:xfrm>
            <a:off x="777240" y="2103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224×224 chest X-ray from the test split, reduced to 4 PCA angles.</a:t>
            </a:r>
            <a:endParaRPr lang="en-US" sz="1400" dirty="0"/>
          </a:p>
        </p:txBody>
      </p:sp>
      <p:sp>
        <p:nvSpPr>
          <p:cNvPr id="7" name="card-248"/>
          <p:cNvSpPr/>
          <p:nvPr/>
        </p:nvSpPr>
        <p:spPr>
          <a:xfrm>
            <a:off x="548640" y="3108960"/>
            <a:ext cx="39319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8" name="text-249"/>
          <p:cNvSpPr txBox="1"/>
          <p:nvPr/>
        </p:nvSpPr>
        <p:spPr>
          <a:xfrm>
            <a:off x="7772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9" name="text-250"/>
          <p:cNvSpPr txBox="1"/>
          <p:nvPr/>
        </p:nvSpPr>
        <p:spPr>
          <a:xfrm>
            <a:off x="777240" y="3611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finding probabilities plus a Grad-CAM heatmap.</a:t>
            </a:r>
            <a:endParaRPr lang="en-US" sz="1400" dirty="0"/>
          </a:p>
        </p:txBody>
      </p:sp>
      <p:sp>
        <p:nvSpPr>
          <p:cNvPr id="10" name="card-251"/>
          <p:cNvSpPr/>
          <p:nvPr/>
        </p:nvSpPr>
        <p:spPr>
          <a:xfrm>
            <a:off x="4663440" y="1600200"/>
            <a:ext cx="697687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graphicFrame>
        <p:nvGraphicFramePr>
          <p:cNvPr id="11" name="Chart 0"/>
          <p:cNvGraphicFramePr/>
          <p:nvPr/>
        </p:nvGraphicFramePr>
        <p:xfrm>
          <a:off x="4754880" y="1691640"/>
          <a:ext cx="6793992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ard-252"/>
          <p:cNvSpPr/>
          <p:nvPr/>
        </p:nvSpPr>
        <p:spPr>
          <a:xfrm>
            <a:off x="548640" y="498348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text-253"/>
          <p:cNvSpPr txBox="1"/>
          <p:nvPr/>
        </p:nvSpPr>
        <p:spPr>
          <a:xfrm>
            <a:off x="777240" y="5047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</a:t>
            </a:r>
            <a:endParaRPr lang="en-US" sz="1600" dirty="0"/>
          </a:p>
        </p:txBody>
      </p:sp>
      <p:sp>
        <p:nvSpPr>
          <p:cNvPr id="14" name="text-254"/>
          <p:cNvSpPr txBox="1"/>
          <p:nvPr/>
        </p:nvSpPr>
        <p:spPr>
          <a:xfrm>
            <a:off x="777240" y="539496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VQC ties the MLP on exact-match accuracy (33.3%).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&amp; Analysis: Binary Pneumonia Triage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Kermany pediatric chest X-ray dataset, Normal vs Pneumonia</a:t>
            </a:r>
            <a:endParaRPr lang="en-US" sz="1600" dirty="0"/>
          </a:p>
        </p:txBody>
      </p:sp>
      <p:sp>
        <p:nvSpPr>
          <p:cNvPr id="4" name="card-255"/>
          <p:cNvSpPr/>
          <p:nvPr/>
        </p:nvSpPr>
        <p:spPr>
          <a:xfrm>
            <a:off x="548640" y="1600200"/>
            <a:ext cx="72237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640080" y="1691640"/>
          <a:ext cx="7040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rd-256"/>
          <p:cNvSpPr/>
          <p:nvPr/>
        </p:nvSpPr>
        <p:spPr>
          <a:xfrm>
            <a:off x="7955280" y="1600200"/>
            <a:ext cx="368503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-257"/>
          <p:cNvSpPr txBox="1"/>
          <p:nvPr/>
        </p:nvSpPr>
        <p:spPr>
          <a:xfrm>
            <a:off x="81838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and output</a:t>
            </a:r>
            <a:endParaRPr lang="en-US" sz="1600" dirty="0"/>
          </a:p>
        </p:txBody>
      </p:sp>
      <p:sp>
        <p:nvSpPr>
          <p:cNvPr id="8" name="text-258"/>
          <p:cNvSpPr txBox="1"/>
          <p:nvPr/>
        </p:nvSpPr>
        <p:spPr>
          <a:xfrm>
            <a:off x="8183880" y="21031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Chest X-ray → Normal or Pneumonia probability.</a:t>
            </a:r>
            <a:endParaRPr lang="en-US" sz="1400" dirty="0"/>
          </a:p>
        </p:txBody>
      </p:sp>
      <p:sp>
        <p:nvSpPr>
          <p:cNvPr id="9" name="obs-card-259"/>
          <p:cNvSpPr/>
          <p:nvPr/>
        </p:nvSpPr>
        <p:spPr>
          <a:xfrm>
            <a:off x="7955280" y="3154680"/>
            <a:ext cx="3685032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10" name="text-260"/>
          <p:cNvSpPr txBox="1"/>
          <p:nvPr/>
        </p:nvSpPr>
        <p:spPr>
          <a:xfrm>
            <a:off x="8183880" y="3273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1" name="text-261"/>
          <p:cNvSpPr txBox="1"/>
          <p:nvPr/>
        </p:nvSpPr>
        <p:spPr>
          <a:xfrm>
            <a:off x="8183880" y="374904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VQC matches the RBF SVM (83.3%).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Highest specificity: 90.9%.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What was achieved and how well the algorithm performed</a:t>
            </a:r>
            <a:endParaRPr lang="en-US" sz="1600" dirty="0"/>
          </a:p>
        </p:txBody>
      </p:sp>
      <p:sp>
        <p:nvSpPr>
          <p:cNvPr id="4" name="card-262"/>
          <p:cNvSpPr/>
          <p:nvPr/>
        </p:nvSpPr>
        <p:spPr>
          <a:xfrm>
            <a:off x="548640" y="1600200"/>
            <a:ext cx="5468112" cy="1719072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5" name="badge-26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264"/>
          <p:cNvSpPr txBox="1"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265"/>
          <p:cNvSpPr txBox="1"/>
          <p:nvPr/>
        </p:nvSpPr>
        <p:spPr>
          <a:xfrm>
            <a:off x="132588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achieved</a:t>
            </a:r>
            <a:endParaRPr lang="en-US" sz="1800" dirty="0"/>
          </a:p>
        </p:txBody>
      </p:sp>
      <p:sp>
        <p:nvSpPr>
          <p:cNvPr id="8" name="text-266"/>
          <p:cNvSpPr txBox="1"/>
          <p:nvPr/>
        </p:nvSpPr>
        <p:spPr>
          <a:xfrm>
            <a:off x="777240" y="23134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working hybrid CNN–PCA–VQC system for 8 thoracic findings.</a:t>
            </a:r>
            <a:endParaRPr lang="en-US" sz="1500" dirty="0"/>
          </a:p>
        </p:txBody>
      </p:sp>
      <p:sp>
        <p:nvSpPr>
          <p:cNvPr id="9" name="card-267"/>
          <p:cNvSpPr/>
          <p:nvPr/>
        </p:nvSpPr>
        <p:spPr>
          <a:xfrm>
            <a:off x="6172200" y="1600200"/>
            <a:ext cx="5468112" cy="1719072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badge-268"/>
          <p:cNvSpPr/>
          <p:nvPr/>
        </p:nvSpPr>
        <p:spPr>
          <a:xfrm>
            <a:off x="6400800" y="1783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-269"/>
          <p:cNvSpPr txBox="1"/>
          <p:nvPr/>
        </p:nvSpPr>
        <p:spPr>
          <a:xfrm>
            <a:off x="6400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270"/>
          <p:cNvSpPr txBox="1"/>
          <p:nvPr/>
        </p:nvSpPr>
        <p:spPr>
          <a:xfrm>
            <a:off x="694944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addressed?</a:t>
            </a:r>
            <a:endParaRPr lang="en-US" sz="1800" dirty="0"/>
          </a:p>
        </p:txBody>
      </p:sp>
      <p:sp>
        <p:nvSpPr>
          <p:cNvPr id="13" name="text-271"/>
          <p:cNvSpPr txBox="1"/>
          <p:nvPr/>
        </p:nvSpPr>
        <p:spPr>
          <a:xfrm>
            <a:off x="6400800" y="23134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Yes. Scans were compressed to 4 angles and classified multi-label.</a:t>
            </a:r>
            <a:endParaRPr lang="en-US" sz="1500" dirty="0"/>
          </a:p>
        </p:txBody>
      </p:sp>
      <p:sp>
        <p:nvSpPr>
          <p:cNvPr id="14" name="card-272"/>
          <p:cNvSpPr/>
          <p:nvPr/>
        </p:nvSpPr>
        <p:spPr>
          <a:xfrm>
            <a:off x="548640" y="3474720"/>
            <a:ext cx="5468112" cy="1719072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5" name="badge-273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-274"/>
          <p:cNvSpPr txBox="1"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275"/>
          <p:cNvSpPr txBox="1"/>
          <p:nvPr/>
        </p:nvSpPr>
        <p:spPr>
          <a:xfrm>
            <a:off x="1325880" y="3657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18" name="text-276"/>
          <p:cNvSpPr txBox="1"/>
          <p:nvPr/>
        </p:nvSpPr>
        <p:spPr>
          <a:xfrm>
            <a:off x="777240" y="418795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85.0% label match (multi-disease); 83.3% accuracy (binary).</a:t>
            </a:r>
            <a:endParaRPr lang="en-US" sz="1500" dirty="0"/>
          </a:p>
        </p:txBody>
      </p:sp>
      <p:sp>
        <p:nvSpPr>
          <p:cNvPr id="19" name="card-277"/>
          <p:cNvSpPr/>
          <p:nvPr/>
        </p:nvSpPr>
        <p:spPr>
          <a:xfrm>
            <a:off x="6172200" y="3474720"/>
            <a:ext cx="5468112" cy="1719072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20" name="badge-278"/>
          <p:cNvSpPr/>
          <p:nvPr/>
        </p:nvSpPr>
        <p:spPr>
          <a:xfrm>
            <a:off x="6400800" y="365760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-279"/>
          <p:cNvSpPr txBox="1"/>
          <p:nvPr/>
        </p:nvSpPr>
        <p:spPr>
          <a:xfrm>
            <a:off x="64008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-280"/>
          <p:cNvSpPr txBox="1"/>
          <p:nvPr/>
        </p:nvSpPr>
        <p:spPr>
          <a:xfrm>
            <a:off x="6949440" y="3657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Effectiveness</a:t>
            </a:r>
            <a:endParaRPr lang="en-US" sz="1800" dirty="0"/>
          </a:p>
        </p:txBody>
      </p:sp>
      <p:sp>
        <p:nvSpPr>
          <p:cNvPr id="23" name="text-281"/>
          <p:cNvSpPr txBox="1"/>
          <p:nvPr/>
        </p:nvSpPr>
        <p:spPr>
          <a:xfrm>
            <a:off x="6400800" y="418795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Competitive with classical models, but no quantum advantage.</a:t>
            </a:r>
            <a:endParaRPr lang="en-US" sz="1500" dirty="0"/>
          </a:p>
        </p:txBody>
      </p:sp>
      <p:sp>
        <p:nvSpPr>
          <p:cNvPr id="24" name="future-282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5" name="text-283"/>
          <p:cNvSpPr txBox="1"/>
          <p:nvPr/>
        </p:nvSpPr>
        <p:spPr>
          <a:xfrm>
            <a:off x="822960" y="5440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</a:rPr>
              <a:t>Future work: </a:t>
            </a:r>
            <a:r>
              <a:rPr lang="en-US" sz="1400" dirty="0">
                <a:solidFill>
                  <a:schemeClr val="bg1"/>
                </a:solidFill>
              </a:rPr>
              <a:t>real quantum hardware with error mitigation · CT and MRI modalities · quantum kernel SVMs · clinical validation.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umMed">
  <a:themeElements>
    <a:clrScheme name="QuantumMed">
      <a:dk1>
        <a:srgbClr val="0F172A"/>
      </a:dk1>
      <a:lt1>
        <a:srgbClr val="FFFFFF"/>
      </a:lt1>
      <a:dk2>
        <a:srgbClr val="1E293B"/>
      </a:dk2>
      <a:lt2>
        <a:srgbClr val="EEF2F7"/>
      </a:lt2>
      <a:accent1>
        <a:srgbClr val="2563EB"/>
      </a:accent1>
      <a:accent2>
        <a:srgbClr val="4F46E5"/>
      </a:accent2>
      <a:accent3>
        <a:srgbClr val="0D9488"/>
      </a:accent3>
      <a:accent4>
        <a:srgbClr val="F59E0B"/>
      </a:accent4>
      <a:accent5>
        <a:srgbClr val="5B6B82"/>
      </a:accent5>
      <a:accent6>
        <a:srgbClr val="DC2626"/>
      </a:accent6>
      <a:hlink>
        <a:srgbClr val="2563EB"/>
      </a:hlink>
      <a:folHlink>
        <a:srgbClr val="4F46E5"/>
      </a:folHlink>
    </a:clrScheme>
    <a:fontScheme name="QuantumM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1750</Words>
  <Application>Microsoft Office PowerPoint</Application>
  <PresentationFormat>Widescreen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QuantumMed</vt:lpstr>
      <vt:lpstr>Quantum AI-Based Medical Imaging System for Disease Diagnosis from Medical Scans</vt:lpstr>
      <vt:lpstr>Problem Statement</vt:lpstr>
      <vt:lpstr>Objectives</vt:lpstr>
      <vt:lpstr>Proposed Algorithm: Introduction &amp; Steps</vt:lpstr>
      <vt:lpstr>Proposed Algorithm: Flowchart &amp; Circuit</vt:lpstr>
      <vt:lpstr>Proposed Algorithm: Pseudocode</vt:lpstr>
      <vt:lpstr>Algorithm Complexity</vt:lpstr>
      <vt:lpstr>Implementation</vt:lpstr>
      <vt:lpstr>Results &amp; Analysis: Multi-Disease Findings</vt:lpstr>
      <vt:lpstr>Results &amp; Analysis: Binary Pneumonia Triage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AI-Based Medical Imaging System for Disease Diagnosis</dc:title>
  <dc:subject>PptxGenJS Presentation</dc:subject>
  <dc:creator>PptxGenJS</dc:creator>
  <cp:lastModifiedBy>Sumitranand Sharma Bhogapurapu</cp:lastModifiedBy>
  <cp:revision>3</cp:revision>
  <dcterms:created xsi:type="dcterms:W3CDTF">2026-10-06T18:22:28Z</dcterms:created>
  <dcterms:modified xsi:type="dcterms:W3CDTF">2026-10-06T18:28:12Z</dcterms:modified>
</cp:coreProperties>
</file>